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0babe48-54d5-93ab-1677-cd0025a2a78e}">
          <p14:sldIdLst>
            <p14:sldId id="256"/>
          </p14:sldIdLst>
        </p14:section>
        <p14:section name="Problem" id="{d4373b63-8812-a5a7-9492-4394983456e5}">
          <p14:sldIdLst>
            <p14:sldId id="257"/>
            <p14:sldId id="258"/>
          </p14:sldIdLst>
        </p14:section>
        <p14:section name="Solution" id="{bdb74cf7-c1f1-2a67-82bc-0e29717e0d65}">
          <p14:sldIdLst>
            <p14:sldId id="259"/>
            <p14:sldId id="260"/>
            <p14:sldId id="261"/>
            <p14:sldId id="262"/>
            <p14:sldId id="263"/>
            <p14:sldId id="264"/>
            <p14:sldId id="265"/>
            <p14:sldId id="266"/>
          </p14:sldIdLst>
        </p14:section>
        <p14:section name="Trust and delivery" id="{7c596ba1-4d29-2524-19b8-0a6488ccbada}">
          <p14:sldIdLst>
            <p14:sldId id="267"/>
            <p14:sldId id="268"/>
          </p14:sldIdLst>
        </p14:section>
        <p14:section name="Impact" id="{7ee80e74-be6d-9b45-b791-f5566eb9650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52B"/>
                </a:solidFill>
                <a:latin typeface="+mn-lt"/>
              </a:defRPr>
            </a:pPr>
            <a:r>
              <a:rPr sz="1400" b="0" i="0" u="none" strike="noStrike">
                <a:solidFill>
                  <a:srgbClr val="10252B"/>
                </a:solidFill>
                <a:latin typeface="+mn-lt"/>
              </a:rPr>
              <a:t>ED arrivals per hour (simulated, now = 16:30)</a:t>
            </a:r>
          </a:p>
        </c:rich>
      </c:tx>
      <c:layout/>
      <c:overlay val="0"/>
    </c:title>
    <c:autoTitleDeleted val="0"/>
    <c:plotArea>
      <c:layout/>
      <c:lineChart>
        <c:varyColors val="0"/>
        <c:ser>
          <c:idx val="0"/>
          <c:order val="0"/>
          <c:tx>
            <c:strRef>
              <c:f>Sheet1!$B$1</c:f>
              <c:strCache>
                <c:ptCount val="1"/>
                <c:pt idx="0">
                  <c:v>Actual</c:v>
                </c:pt>
              </c:strCache>
            </c:strRef>
          </c:tx>
          <c:spPr>
            <a:solidFill>
              <a:srgbClr val="0B3C49"/>
            </a:solidFill>
            <a:ln w="31750" cap="flat">
              <a:solidFill>
                <a:srgbClr val="0B3C49"/>
              </a:solidFill>
              <a:prstDash val="solid,dash,sysDot,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4"/>
            <c:spPr>
              <a:solidFill>
                <a:srgbClr val="0B3C49"/>
              </a:solidFill>
              <a:ln w="9525" cap="flat">
                <a:solidFill>
                  <a:srgbClr val="0B3C49"/>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7</c:v>
                </c:pt>
                <c:pt idx="1">
                  <c:v>5</c:v>
                </c:pt>
                <c:pt idx="2">
                  <c:v>4</c:v>
                </c:pt>
                <c:pt idx="3">
                  <c:v>3</c:v>
                </c:pt>
                <c:pt idx="4">
                  <c:v>2</c:v>
                </c:pt>
                <c:pt idx="5">
                  <c:v>4</c:v>
                </c:pt>
                <c:pt idx="6">
                  <c:v>6</c:v>
                </c:pt>
                <c:pt idx="7">
                  <c:v>10</c:v>
                </c:pt>
                <c:pt idx="8">
                  <c:v>14</c:v>
                </c:pt>
                <c:pt idx="9">
                  <c:v>17</c:v>
                </c:pt>
                <c:pt idx="10">
                  <c:v>19</c:v>
                </c:pt>
                <c:pt idx="11">
                  <c:v>17</c:v>
                </c:pt>
                <c:pt idx="12">
                  <c:v>18</c:v>
                </c:pt>
                <c:pt idx="13">
                  <c:v>15</c:v>
                </c:pt>
                <c:pt idx="14">
                  <c:v>17</c:v>
                </c:pt>
                <c:pt idx="15">
                  <c:v>19</c:v>
                </c:pt>
                <c:pt idx="16">
                  <c:v>20</c:v>
                </c:pt>
                <c:pt idx="17">
                  <c:v/>
                </c:pt>
                <c:pt idx="18">
                  <c:v/>
                </c:pt>
                <c:pt idx="19">
                  <c:v/>
                </c:pt>
                <c:pt idx="20">
                  <c:v/>
                </c:pt>
                <c:pt idx="21">
                  <c:v/>
                </c:pt>
                <c:pt idx="22">
                  <c:v/>
                </c:pt>
                <c:pt idx="23">
                  <c:v/>
                </c:pt>
              </c:numCache>
            </c:numRef>
          </c:val>
          <c:smooth val="0"/>
        </c:ser>
        <c:ser>
          <c:idx val="1"/>
          <c:order val="1"/>
          <c:tx>
            <c:strRef>
              <c:f>Sheet1!$C$1</c:f>
              <c:strCache>
                <c:ptCount val="1"/>
                <c:pt idx="0">
                  <c:v>Forecast</c:v>
                </c:pt>
              </c:strCache>
            </c:strRef>
          </c:tx>
          <c:spPr>
            <a:solidFill>
              <a:srgbClr val="FF6B5B"/>
            </a:solidFill>
            <a:ln w="31750" cap="flat">
              <a:solidFill>
                <a:srgbClr val="FF6B5B"/>
              </a:solidFill>
              <a:prstDash val="solid,dash,sysDot,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4"/>
            <c:spPr>
              <a:solidFill>
                <a:srgbClr val="FF6B5B"/>
              </a:solidFill>
              <a:ln w="9525" cap="flat">
                <a:solidFill>
                  <a:srgbClr val="FF6B5B"/>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6</c:v>
                </c:pt>
                <c:pt idx="1">
                  <c:v>5</c:v>
                </c:pt>
                <c:pt idx="2">
                  <c:v>4</c:v>
                </c:pt>
                <c:pt idx="3">
                  <c:v>3</c:v>
                </c:pt>
                <c:pt idx="4">
                  <c:v>3</c:v>
                </c:pt>
                <c:pt idx="5">
                  <c:v>4</c:v>
                </c:pt>
                <c:pt idx="6">
                  <c:v>6</c:v>
                </c:pt>
                <c:pt idx="7">
                  <c:v>9</c:v>
                </c:pt>
                <c:pt idx="8">
                  <c:v>13</c:v>
                </c:pt>
                <c:pt idx="9">
                  <c:v>16</c:v>
                </c:pt>
                <c:pt idx="10">
                  <c:v>18</c:v>
                </c:pt>
                <c:pt idx="11">
                  <c:v>18</c:v>
                </c:pt>
                <c:pt idx="12">
                  <c:v>17</c:v>
                </c:pt>
                <c:pt idx="13">
                  <c:v>16</c:v>
                </c:pt>
                <c:pt idx="14">
                  <c:v>16</c:v>
                </c:pt>
                <c:pt idx="15">
                  <c:v>17</c:v>
                </c:pt>
                <c:pt idx="16">
                  <c:v>19</c:v>
                </c:pt>
                <c:pt idx="17">
                  <c:v>19</c:v>
                </c:pt>
                <c:pt idx="18">
                  <c:v>17</c:v>
                </c:pt>
                <c:pt idx="19">
                  <c:v>15</c:v>
                </c:pt>
                <c:pt idx="20">
                  <c:v>13</c:v>
                </c:pt>
                <c:pt idx="21">
                  <c:v>11</c:v>
                </c:pt>
                <c:pt idx="22">
                  <c:v>9</c:v>
                </c:pt>
                <c:pt idx="23">
                  <c:v>7</c:v>
                </c:pt>
              </c:numCache>
            </c:numRef>
          </c:val>
          <c:smooth val="0"/>
        </c:ser>
        <c:ser>
          <c:idx val="2"/>
          <c:order val="2"/>
          <c:tx>
            <c:strRef>
              <c:f>Sheet1!$D$1</c:f>
              <c:strCache>
                <c:ptCount val="1"/>
                <c:pt idx="0">
                  <c:v>Upper range</c:v>
                </c:pt>
              </c:strCache>
            </c:strRef>
          </c:tx>
          <c:spPr>
            <a:solidFill>
              <a:srgbClr val="B8C7CC"/>
            </a:solidFill>
            <a:ln w="31750" cap="flat">
              <a:solidFill>
                <a:srgbClr val="B8C7CC"/>
              </a:solidFill>
              <a:prstDash val="solid,dash,sysDot,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4"/>
            <c:spPr>
              <a:solidFill>
                <a:srgbClr val="B8C7CC"/>
              </a:solidFill>
              <a:ln w="9525" cap="flat">
                <a:solidFill>
                  <a:srgbClr val="B8C7CC"/>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Sheet1!$D$2:$D$25</c:f>
              <c:numCache>
                <c:formatCode>General</c:formatCode>
                <c:ptCount val="24"/>
                <c:pt idx="0">
                  <c:v>8</c:v>
                </c:pt>
                <c:pt idx="1">
                  <c:v>7</c:v>
                </c:pt>
                <c:pt idx="2">
                  <c:v>6</c:v>
                </c:pt>
                <c:pt idx="3">
                  <c:v>5</c:v>
                </c:pt>
                <c:pt idx="4">
                  <c:v>5</c:v>
                </c:pt>
                <c:pt idx="5">
                  <c:v>6</c:v>
                </c:pt>
                <c:pt idx="6">
                  <c:v>8</c:v>
                </c:pt>
                <c:pt idx="7">
                  <c:v>11</c:v>
                </c:pt>
                <c:pt idx="8">
                  <c:v>15</c:v>
                </c:pt>
                <c:pt idx="9">
                  <c:v>18</c:v>
                </c:pt>
                <c:pt idx="10">
                  <c:v>20</c:v>
                </c:pt>
                <c:pt idx="11">
                  <c:v>20</c:v>
                </c:pt>
                <c:pt idx="12">
                  <c:v>19</c:v>
                </c:pt>
                <c:pt idx="13">
                  <c:v>18</c:v>
                </c:pt>
                <c:pt idx="14">
                  <c:v>18</c:v>
                </c:pt>
                <c:pt idx="15">
                  <c:v>19</c:v>
                </c:pt>
                <c:pt idx="16">
                  <c:v>22</c:v>
                </c:pt>
                <c:pt idx="17">
                  <c:v>22</c:v>
                </c:pt>
                <c:pt idx="18">
                  <c:v>20</c:v>
                </c:pt>
                <c:pt idx="19">
                  <c:v>18</c:v>
                </c:pt>
                <c:pt idx="20">
                  <c:v>16</c:v>
                </c:pt>
                <c:pt idx="21">
                  <c:v>14</c:v>
                </c:pt>
                <c:pt idx="22">
                  <c:v>12</c:v>
                </c:pt>
                <c:pt idx="23">
                  <c:v>10</c:v>
                </c:pt>
              </c:numCache>
            </c:numRef>
          </c:val>
          <c:smooth val="0"/>
        </c:ser>
        <c:ser>
          <c:idx val="3"/>
          <c:order val="3"/>
          <c:tx>
            <c:strRef>
              <c:f>Sheet1!$E$1</c:f>
              <c:strCache>
                <c:ptCount val="1"/>
                <c:pt idx="0">
                  <c:v>Lower range</c:v>
                </c:pt>
              </c:strCache>
            </c:strRef>
          </c:tx>
          <c:spPr>
            <a:solidFill>
              <a:srgbClr val="B8C7CC"/>
            </a:solidFill>
            <a:ln w="31750" cap="flat">
              <a:solidFill>
                <a:srgbClr val="B8C7CC"/>
              </a:solidFill>
              <a:prstDash val="solid,dash,sysDot,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4"/>
            <c:spPr>
              <a:solidFill>
                <a:srgbClr val="B8C7CC"/>
              </a:solidFill>
              <a:ln w="9525" cap="flat">
                <a:solidFill>
                  <a:srgbClr val="B8C7CC"/>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Sheet1!$E$2:$E$25</c:f>
              <c:numCache>
                <c:formatCode>General</c:formatCode>
                <c:ptCount val="24"/>
                <c:pt idx="0">
                  <c:v>4</c:v>
                </c:pt>
                <c:pt idx="1">
                  <c:v>3</c:v>
                </c:pt>
                <c:pt idx="2">
                  <c:v>2</c:v>
                </c:pt>
                <c:pt idx="3">
                  <c:v>1</c:v>
                </c:pt>
                <c:pt idx="4">
                  <c:v>1</c:v>
                </c:pt>
                <c:pt idx="5">
                  <c:v>2</c:v>
                </c:pt>
                <c:pt idx="6">
                  <c:v>4</c:v>
                </c:pt>
                <c:pt idx="7">
                  <c:v>7</c:v>
                </c:pt>
                <c:pt idx="8">
                  <c:v>11</c:v>
                </c:pt>
                <c:pt idx="9">
                  <c:v>14</c:v>
                </c:pt>
                <c:pt idx="10">
                  <c:v>16</c:v>
                </c:pt>
                <c:pt idx="11">
                  <c:v>16</c:v>
                </c:pt>
                <c:pt idx="12">
                  <c:v>15</c:v>
                </c:pt>
                <c:pt idx="13">
                  <c:v>14</c:v>
                </c:pt>
                <c:pt idx="14">
                  <c:v>14</c:v>
                </c:pt>
                <c:pt idx="15">
                  <c:v>15</c:v>
                </c:pt>
                <c:pt idx="16">
                  <c:v>16</c:v>
                </c:pt>
                <c:pt idx="17">
                  <c:v>16</c:v>
                </c:pt>
                <c:pt idx="18">
                  <c:v>14</c:v>
                </c:pt>
                <c:pt idx="19">
                  <c:v>12</c:v>
                </c:pt>
                <c:pt idx="20">
                  <c:v>10</c:v>
                </c:pt>
                <c:pt idx="21">
                  <c:v>8</c:v>
                </c:pt>
                <c:pt idx="22">
                  <c:v>6</c:v>
                </c:pt>
                <c:pt idx="23">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3"/>
                    </a:solidFill>
                    <a:latin typeface="+mn-lt"/>
                  </a:defRPr>
                </a:pPr>
                <a:r>
                  <a:rPr sz="1100" b="0" i="0" u="none" strike="noStrike">
                    <a:solidFill>
                      <a:srgbClr val="5B6B73"/>
                    </a:solidFill>
                    <a:latin typeface="+mn-lt"/>
                  </a:rPr>
                  <a:t>Hour of day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025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ED queue forecast (patients)</a:t>
            </a:r>
          </a:p>
        </c:rich>
      </c:tx>
      <c:layout/>
      <c:overlay val="0"/>
    </c:title>
    <c:autoTitleDeleted val="0"/>
    <c:plotArea>
      <c:layout/>
      <c:lineChart>
        <c:varyColors val="0"/>
        <c:ser>
          <c:idx val="0"/>
          <c:order val="0"/>
          <c:tx>
            <c:strRef>
              <c:f>Sheet1!$B$1</c:f>
              <c:strCache>
                <c:ptCount val="1"/>
                <c:pt idx="0">
                  <c:v>Waiting</c:v>
                </c:pt>
              </c:strCache>
            </c:strRef>
          </c:tx>
          <c:spPr>
            <a:solidFill>
              <a:srgbClr val="FF6B5B"/>
            </a:solidFill>
            <a:ln w="38100" cap="flat">
              <a:solidFill>
                <a:srgbClr val="FF6B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F6B5B"/>
              </a:solidFill>
              <a:ln w="9525" cap="flat">
                <a:solidFill>
                  <a:srgbClr val="FF6B5B"/>
                </a:solidFill>
                <a:prstDash val="solid"/>
                <a:round/>
              </a:ln>
              <a:effectLst/>
            </c:spPr>
          </c:marker>
          <c:cat>
            <c:multiLvlStrRef>
              <c:f>Sheet1!$A$2:$A$7</c:f>
              <c:multiLvlStrCache>
                <c:ptCount val="6"/>
                <c:lvl>
                  <c:pt idx="0">
                    <c:v>16:30</c:v>
                  </c:pt>
                  <c:pt idx="1">
                    <c:v>17:30</c:v>
                  </c:pt>
                  <c:pt idx="2">
                    <c:v>18:30</c:v>
                  </c:pt>
                  <c:pt idx="3">
                    <c:v>19:30</c:v>
                  </c:pt>
                  <c:pt idx="4">
                    <c:v>20:30</c:v>
                  </c:pt>
                  <c:pt idx="5">
                    <c:v>21:30</c:v>
                  </c:pt>
                </c:lvl>
              </c:multiLvlStrCache>
            </c:multiLvlStrRef>
          </c:cat>
          <c:val>
            <c:numRef>
              <c:f>Sheet1!$B$2:$B$7</c:f>
              <c:numCache>
                <c:formatCode>General</c:formatCode>
                <c:ptCount val="6"/>
                <c:pt idx="0">
                  <c:v>38</c:v>
                </c:pt>
                <c:pt idx="1">
                  <c:v>46</c:v>
                </c:pt>
                <c:pt idx="2">
                  <c:v>52</c:v>
                </c:pt>
                <c:pt idx="3">
                  <c:v>44</c:v>
                </c:pt>
                <c:pt idx="4">
                  <c:v>35</c:v>
                </c:pt>
                <c:pt idx="5">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EAF4F4"/>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3F667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EAF4F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Occupancy by ward (%)</a:t>
            </a:r>
          </a:p>
        </c:rich>
      </c:tx>
      <c:layout/>
      <c:overlay val="0"/>
    </c:title>
    <c:autoTitleDeleted val="0"/>
    <c:plotArea>
      <c:layout/>
      <c:barChart>
        <c:barDir val="col"/>
        <c:grouping val="clustered"/>
        <c:varyColors val="0"/>
        <c:ser>
          <c:idx val="0"/>
          <c:order val="0"/>
          <c:tx>
            <c:strRef>
              <c:f>Sheet1!$B$1</c:f>
              <c:strCache>
                <c:ptCount val="1"/>
                <c:pt idx="0">
                  <c:v>Occupancy</c:v>
                </c:pt>
              </c:strCache>
            </c:strRef>
          </c:tx>
          <c:spPr>
            <a:solidFill>
              <a:srgbClr val="FF6B5B"/>
            </a:solidFill>
            <a:effectLst/>
          </c:spPr>
          <c:invertIfNegative val="0"/>
          <c:dLbls>
            <c:numFmt formatCode="#,##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FF6B5B"/>
              </a:solidFill>
              <a:effectLst/>
            </c:spPr>
          </c:dPt>
          <c:dPt>
            <c:idx val="1"/>
            <c:invertIfNegative val="0"/>
            <c:bubble3D val="0"/>
            <c:spPr>
              <a:solidFill>
                <a:srgbClr val="F2B134"/>
              </a:solidFill>
              <a:effectLst/>
            </c:spPr>
          </c:dPt>
          <c:dPt>
            <c:idx val="2"/>
            <c:invertIfNegative val="0"/>
            <c:bubble3D val="0"/>
            <c:spPr>
              <a:solidFill>
                <a:srgbClr val="F2B134"/>
              </a:solidFill>
              <a:effectLst/>
            </c:spPr>
          </c:dPt>
          <c:dPt>
            <c:idx val="3"/>
            <c:invertIfNegative val="0"/>
            <c:bubble3D val="0"/>
            <c:spPr>
              <a:solidFill>
                <a:srgbClr val="1FA89A"/>
              </a:solidFill>
              <a:effectLst/>
            </c:spPr>
          </c:dPt>
          <c:dPt>
            <c:idx val="4"/>
            <c:invertIfNegative val="0"/>
            <c:bubble3D val="0"/>
            <c:spPr>
              <a:solidFill>
                <a:srgbClr val="1FA89A"/>
              </a:solidFill>
              <a:effectLst/>
            </c:spPr>
          </c:dPt>
          <c:dPt>
            <c:idx val="5"/>
            <c:invertIfNegative val="0"/>
            <c:bubble3D val="0"/>
            <c:spPr>
              <a:solidFill>
                <a:srgbClr val="1FA89A"/>
              </a:solidFill>
              <a:effectLst/>
            </c:spPr>
          </c:dPt>
          <c:cat>
            <c:multiLvlStrRef>
              <c:f>Sheet1!$A$2:$A$7</c:f>
              <c:multiLvlStrCache>
                <c:ptCount val="6"/>
                <c:lvl>
                  <c:pt idx="0">
                    <c:v>5A</c:v>
                  </c:pt>
                  <c:pt idx="1">
                    <c:v>ICU</c:v>
                  </c:pt>
                  <c:pt idx="2">
                    <c:v>4B</c:v>
                  </c:pt>
                  <c:pt idx="3">
                    <c:v>6A</c:v>
                  </c:pt>
                  <c:pt idx="4">
                    <c:v>3A</c:v>
                  </c:pt>
                  <c:pt idx="5">
                    <c:v>Peds</c:v>
                  </c:pt>
                </c:lvl>
              </c:multiLvlStrCache>
            </c:multiLvlStrRef>
          </c:cat>
          <c:val>
            <c:numRef>
              <c:f>Sheet1!$B$2:$B$7</c:f>
              <c:numCache>
                <c:formatCode>General</c:formatCode>
                <c:ptCount val="6"/>
                <c:pt idx="0">
                  <c:v>96</c:v>
                </c:pt>
                <c:pt idx="1">
                  <c:v>88</c:v>
                </c:pt>
                <c:pt idx="2">
                  <c:v>85</c:v>
                </c:pt>
                <c:pt idx="3">
                  <c:v>80</c:v>
                </c:pt>
                <c:pt idx="4">
                  <c:v>79</c:v>
                </c:pt>
                <c:pt idx="5">
                  <c:v>59</c:v>
                </c:pt>
              </c:numCache>
            </c:numRef>
          </c:val>
        </c:ser>
        <c:dLbls>
          <c:numFmt formatCode="#,##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EAF4F4"/>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EAF4F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statement: hospitals are overcrowded but capacity is often idle somewhere else. MediFlow predicts overcrowding and recommends how to use what already exists, while clinicians stay in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 points: ED crowding, uneven utilization, discharge delays, fragmented information. Adding beds or staff takes months, so coordination is the only lever available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450-bed hospital. The key point: there are 23 free beds in the building, but not in the wards where ED boarders need them. Without coordination the wait passes two hours by 6 pm. With MediFlow the surge is flagged at 2:30 pm and action starts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four-step loop: sense live data, predict demand and bottlenecks, recommend ranked actions, then a clinician approves and the outcome feeds back into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maps directly to a bullet in the problem statement: forecasting, bed management, wait-time and bottleneck detection, utilization tracking, reallocation with alerts, and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hospital systems feed an ingestion layer, models produce forecasts and recommendations, and the application layer exposes alerts and the dashboard. Demo uses a synthetic data generator in place of live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ED arrivals per hour for a hospital seeing about 270 ED visits a day. Actual arrivals run to 16:00 (now is 16:30). The forecast shows an evening surge peaking near 19 arrivals per hour, with a confidence range. Time-series baseline plus gradient boosting on calendar and appointment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patient. The optimizer scores every ward on acuity, monitoring need, isolation, ward policy, free beds and predicted discharge times. Note it avoids over-triage: the ICU scores low so it stays free for critical patients. The bed manager confirms or overrides.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alerts detected within ten minutes of each other, each paired with a specific action. Simulated scenario. Red is a predicted breach, amber a near-capacity risk, blue an underused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prototype's command-center view at 16:30 on the simulated Tuesday: headline KPIs, ED queue forecast for the next six hours, occupancy by area, and the live alert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Ward-level view a bed manager would use. Each ward shows beds, occupancy, expected discharges by 20:00 and how many ED boarders are waiting for that ward. Status colors drive the alerts. Simulated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system never replaces clinical judgment: it ranks options, shows its reasoning, and a human approves. Clinical priority always overrides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the stack to match what your team actually builds. The prototype runs on synthetic data, so no real patient information is used. Walk judges through the four demo steps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target outcomes to validate, not claimed results. We replay the same simulated week, about 1,900 ED arrivals, under a first-come baseline and under MediFlow recommendations, then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roadmap and invite questions. Emphasize: predictive, coordinated, resource-efficient, and clinician-led.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75488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468880"/>
            <a:ext cx="45720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754880" cy="914400"/>
          </a:xfrm>
          <a:prstGeom prst="rect">
            <a:avLst/>
          </a:prstGeom>
          <a:noFill/>
          <a:ln/>
        </p:spPr>
        <p:txBody>
          <a:bodyPr wrap="square" rtlCol="0" anchor="t"/>
          <a:lstStyle/>
          <a:p>
            <a:pPr algn="l" indent="0" marL="0">
              <a:buNone/>
            </a:pPr>
            <a:r>
              <a:rPr lang="en-US" sz="4800" b="1" dirty="0">
                <a:solidFill>
                  <a:schemeClr val="bg1"/>
                </a:solidFill>
              </a:rPr>
              <a:t>MediFlow</a:t>
            </a:r>
            <a:endParaRPr lang="en-US" sz="4800" dirty="0"/>
          </a:p>
        </p:txBody>
      </p:sp>
      <p:sp>
        <p:nvSpPr>
          <p:cNvPr id="4" name="Text 0"/>
          <p:cNvSpPr/>
          <p:nvPr>
            <p:ph idx="101" type="body" hasCustomPrompt="1"/>
          </p:nvPr>
        </p:nvSpPr>
        <p:spPr>
          <a:xfrm>
            <a:off x="548640" y="2468880"/>
            <a:ext cx="4572000" cy="914400"/>
          </a:xfrm>
          <a:prstGeom prst="rect">
            <a:avLst/>
          </a:prstGeom>
          <a:noFill/>
          <a:ln/>
        </p:spPr>
        <p:txBody>
          <a:bodyPr wrap="square" rtlCol="0" anchor="t"/>
          <a:lstStyle/>
          <a:p>
            <a:pPr algn="l" indent="0" marL="0">
              <a:buNone/>
            </a:pPr>
            <a:r>
              <a:rPr lang="en-US" sz="1800" dirty="0">
                <a:solidFill>
                  <a:schemeClr val="bg2"/>
                </a:solidFill>
              </a:rPr>
              <a:t>Predictive hospital operations: make existing capacity work smarter</a:t>
            </a:r>
            <a:endParaRPr lang="en-US" sz="1800" dirty="0"/>
          </a:p>
        </p:txBody>
      </p:sp>
      <p:sp>
        <p:nvSpPr>
          <p:cNvPr id="5" name="Text 1"/>
          <p:cNvSpPr txBox="1"/>
          <p:nvPr/>
        </p:nvSpPr>
        <p:spPr>
          <a:xfrm>
            <a:off x="548640" y="4206240"/>
            <a:ext cx="4754880" cy="365760"/>
          </a:xfrm>
          <a:prstGeom prst="rect">
            <a:avLst/>
          </a:prstGeom>
          <a:noFill/>
          <a:ln/>
        </p:spPr>
        <p:txBody>
          <a:bodyPr wrap="square" lIns="0" tIns="0" rIns="0" bIns="0" rtlCol="0" anchor="t"/>
          <a:lstStyle/>
          <a:p>
            <a:pPr indent="0" marL="0">
              <a:buNone/>
            </a:pPr>
            <a:r>
              <a:rPr lang="en-US" sz="1400" i="1" dirty="0">
                <a:solidFill>
                  <a:schemeClr val="accent3"/>
                </a:solidFill>
              </a:rPr>
              <a:t>Hackathon problem: Overcrowded Hospitals, Limited Resources</a:t>
            </a:r>
            <a:endParaRPr lang="en-US" sz="1400" dirty="0"/>
          </a:p>
        </p:txBody>
      </p:sp>
      <p:sp>
        <p:nvSpPr>
          <p:cNvPr id="6" name="Text 2"/>
          <p:cNvSpPr txBox="1"/>
          <p:nvPr/>
        </p:nvSpPr>
        <p:spPr>
          <a:xfrm>
            <a:off x="548640" y="4526280"/>
            <a:ext cx="4754880" cy="274320"/>
          </a:xfrm>
          <a:prstGeom prst="rect">
            <a:avLst/>
          </a:prstGeom>
          <a:noFill/>
          <a:ln/>
        </p:spPr>
        <p:txBody>
          <a:bodyPr wrap="square" lIns="0" tIns="0" rIns="0" bIns="0" rtlCol="0" anchor="t"/>
          <a:lstStyle/>
          <a:p>
            <a:pPr indent="0" marL="0">
              <a:buNone/>
            </a:pPr>
            <a:r>
              <a:rPr lang="en-US" sz="1200" dirty="0">
                <a:solidFill>
                  <a:schemeClr val="bg2"/>
                </a:solidFill>
              </a:rPr>
              <a:t>Team name  |  Members</a:t>
            </a:r>
            <a:endParaRPr lang="en-US" sz="1200" dirty="0"/>
          </a:p>
        </p:txBody>
      </p:sp>
      <p:sp>
        <p:nvSpPr>
          <p:cNvPr id="7" name="Icon circle 3"/>
          <p:cNvSpPr/>
          <p:nvPr/>
        </p:nvSpPr>
        <p:spPr>
          <a:xfrm>
            <a:off x="5943600" y="1005840"/>
            <a:ext cx="1188720" cy="1188720"/>
          </a:xfrm>
          <a:prstGeom prst="ellipse">
            <a:avLst/>
          </a:prstGeom>
          <a:solidFill>
            <a:schemeClr val="accent1"/>
          </a:solidFill>
          <a:ln w="12700">
            <a:solidFill>
              <a:schemeClr val="accent1"/>
            </a:solidFill>
            <a:prstDash val="solid"/>
          </a:ln>
        </p:spPr>
      </p:sp>
      <p:pic>
        <p:nvPicPr>
          <p:cNvPr id="8" name="Icon 4" descr="icon">    </p:cNvPr>
          <p:cNvPicPr>
            <a:picLocks noChangeAspect="1"/>
          </p:cNvPicPr>
          <p:nvPr/>
        </p:nvPicPr>
        <p:blipFill>
          <a:blip r:embed="rId1"/>
          <a:stretch>
            <a:fillRect/>
          </a:stretch>
        </p:blipFill>
        <p:spPr>
          <a:xfrm>
            <a:off x="6264554" y="1326794"/>
            <a:ext cx="546811" cy="546811"/>
          </a:xfrm>
          <a:prstGeom prst="rect">
            <a:avLst/>
          </a:prstGeom>
        </p:spPr>
      </p:pic>
      <p:sp>
        <p:nvSpPr>
          <p:cNvPr id="9" name="Icon circle 5"/>
          <p:cNvSpPr/>
          <p:nvPr/>
        </p:nvSpPr>
        <p:spPr>
          <a:xfrm>
            <a:off x="7315200" y="1005840"/>
            <a:ext cx="1188720" cy="1188720"/>
          </a:xfrm>
          <a:prstGeom prst="ellipse">
            <a:avLst/>
          </a:prstGeom>
          <a:solidFill>
            <a:schemeClr val="accent2"/>
          </a:solidFill>
          <a:ln w="12700">
            <a:solidFill>
              <a:schemeClr val="accent2"/>
            </a:solidFill>
            <a:prstDash val="solid"/>
          </a:ln>
        </p:spPr>
      </p:sp>
      <p:pic>
        <p:nvPicPr>
          <p:cNvPr id="10" name="Icon 6" descr="icon">    </p:cNvPr>
          <p:cNvPicPr>
            <a:picLocks noChangeAspect="1"/>
          </p:cNvPicPr>
          <p:nvPr/>
        </p:nvPicPr>
        <p:blipFill>
          <a:blip r:embed="rId2"/>
          <a:stretch>
            <a:fillRect/>
          </a:stretch>
        </p:blipFill>
        <p:spPr>
          <a:xfrm>
            <a:off x="7636154" y="1326794"/>
            <a:ext cx="546811" cy="546811"/>
          </a:xfrm>
          <a:prstGeom prst="rect">
            <a:avLst/>
          </a:prstGeom>
        </p:spPr>
      </p:pic>
      <p:sp>
        <p:nvSpPr>
          <p:cNvPr id="11" name="Icon circle 7"/>
          <p:cNvSpPr/>
          <p:nvPr/>
        </p:nvSpPr>
        <p:spPr>
          <a:xfrm>
            <a:off x="5943600" y="2468880"/>
            <a:ext cx="1188720" cy="1188720"/>
          </a:xfrm>
          <a:prstGeom prst="ellipse">
            <a:avLst/>
          </a:prstGeom>
          <a:solidFill>
            <a:schemeClr val="accent3"/>
          </a:solidFill>
          <a:ln w="12700">
            <a:solidFill>
              <a:schemeClr val="accent3"/>
            </a:solidFill>
            <a:prstDash val="solid"/>
          </a:ln>
        </p:spPr>
      </p:sp>
      <p:pic>
        <p:nvPicPr>
          <p:cNvPr id="12" name="Icon 8" descr="icon">    </p:cNvPr>
          <p:cNvPicPr>
            <a:picLocks noChangeAspect="1"/>
          </p:cNvPicPr>
          <p:nvPr/>
        </p:nvPicPr>
        <p:blipFill>
          <a:blip r:embed="rId3"/>
          <a:stretch>
            <a:fillRect/>
          </a:stretch>
        </p:blipFill>
        <p:spPr>
          <a:xfrm>
            <a:off x="6264554" y="2789834"/>
            <a:ext cx="546811" cy="546811"/>
          </a:xfrm>
          <a:prstGeom prst="rect">
            <a:avLst/>
          </a:prstGeom>
        </p:spPr>
      </p:pic>
      <p:sp>
        <p:nvSpPr>
          <p:cNvPr id="13" name="Icon circle 9"/>
          <p:cNvSpPr/>
          <p:nvPr/>
        </p:nvSpPr>
        <p:spPr>
          <a:xfrm>
            <a:off x="7315200" y="2468880"/>
            <a:ext cx="1188720" cy="1188720"/>
          </a:xfrm>
          <a:prstGeom prst="ellipse">
            <a:avLst/>
          </a:prstGeom>
          <a:solidFill>
            <a:schemeClr val="accent4"/>
          </a:solidFill>
          <a:ln w="12700">
            <a:solidFill>
              <a:schemeClr val="accent4"/>
            </a:solidFill>
            <a:prstDash val="solid"/>
          </a:ln>
        </p:spPr>
      </p:sp>
      <p:pic>
        <p:nvPicPr>
          <p:cNvPr id="14" name="Icon 10" descr="icon">    </p:cNvPr>
          <p:cNvPicPr>
            <a:picLocks noChangeAspect="1"/>
          </p:cNvPicPr>
          <p:nvPr/>
        </p:nvPicPr>
        <p:blipFill>
          <a:blip r:embed="rId4"/>
          <a:stretch>
            <a:fillRect/>
          </a:stretch>
        </p:blipFill>
        <p:spPr>
          <a:xfrm>
            <a:off x="7636154" y="2789834"/>
            <a:ext cx="546811" cy="5468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Full hospitals, idle capacity</a:t>
            </a:r>
            <a:endParaRPr lang="en-US" sz="3200" dirty="0"/>
          </a:p>
        </p:txBody>
      </p:sp>
      <p:sp>
        <p:nvSpPr>
          <p:cNvPr id="4" name="Card 11"/>
          <p:cNvSpPr/>
          <p:nvPr/>
        </p:nvSpPr>
        <p:spPr>
          <a:xfrm>
            <a:off x="457200" y="1234440"/>
            <a:ext cx="3977640" cy="1508760"/>
          </a:xfrm>
          <a:prstGeom prst="roundRect">
            <a:avLst>
              <a:gd name="adj" fmla="val 6061"/>
            </a:avLst>
          </a:prstGeom>
          <a:solidFill>
            <a:schemeClr val="bg2"/>
          </a:solidFill>
          <a:ln w="12700">
            <a:solidFill>
              <a:schemeClr val="bg2"/>
            </a:solidFill>
            <a:prstDash val="solid"/>
          </a:ln>
        </p:spPr>
      </p:sp>
      <p:sp>
        <p:nvSpPr>
          <p:cNvPr id="5" name="Icon circle 12"/>
          <p:cNvSpPr/>
          <p:nvPr/>
        </p:nvSpPr>
        <p:spPr>
          <a:xfrm>
            <a:off x="685800" y="1508760"/>
            <a:ext cx="640080" cy="640080"/>
          </a:xfrm>
          <a:prstGeom prst="ellipse">
            <a:avLst/>
          </a:prstGeom>
          <a:solidFill>
            <a:schemeClr val="accent2"/>
          </a:solidFill>
          <a:ln w="12700">
            <a:solidFill>
              <a:schemeClr val="accent2"/>
            </a:solidFill>
            <a:prstDash val="solid"/>
          </a:ln>
        </p:spPr>
      </p:sp>
      <p:pic>
        <p:nvPicPr>
          <p:cNvPr id="6" name="Icon 13" descr="icon">    </p:cNvPr>
          <p:cNvPicPr>
            <a:picLocks noChangeAspect="1"/>
          </p:cNvPicPr>
          <p:nvPr/>
        </p:nvPicPr>
        <p:blipFill>
          <a:blip r:embed="rId1"/>
          <a:stretch>
            <a:fillRect/>
          </a:stretch>
        </p:blipFill>
        <p:spPr>
          <a:xfrm>
            <a:off x="858622" y="1681582"/>
            <a:ext cx="294437" cy="294437"/>
          </a:xfrm>
          <a:prstGeom prst="rect">
            <a:avLst/>
          </a:prstGeom>
        </p:spPr>
      </p:pic>
      <p:sp>
        <p:nvSpPr>
          <p:cNvPr id="7" name="Text 14"/>
          <p:cNvSpPr txBox="1"/>
          <p:nvPr/>
        </p:nvSpPr>
        <p:spPr>
          <a:xfrm>
            <a:off x="1554480" y="1435608"/>
            <a:ext cx="2743200" cy="292608"/>
          </a:xfrm>
          <a:prstGeom prst="rect">
            <a:avLst/>
          </a:prstGeom>
          <a:noFill/>
          <a:ln/>
        </p:spPr>
        <p:txBody>
          <a:bodyPr wrap="square" lIns="0" tIns="0" rIns="0" bIns="0" rtlCol="0" anchor="t"/>
          <a:lstStyle/>
          <a:p>
            <a:pPr indent="0" marL="0">
              <a:buNone/>
            </a:pPr>
            <a:r>
              <a:rPr lang="en-US" sz="1700" b="1" dirty="0">
                <a:solidFill>
                  <a:schemeClr val="tx2"/>
                </a:solidFill>
              </a:rPr>
              <a:t>ED overcrowding</a:t>
            </a:r>
            <a:endParaRPr lang="en-US" sz="1700" dirty="0"/>
          </a:p>
        </p:txBody>
      </p:sp>
      <p:sp>
        <p:nvSpPr>
          <p:cNvPr id="8" name="Text 15"/>
          <p:cNvSpPr txBox="1"/>
          <p:nvPr/>
        </p:nvSpPr>
        <p:spPr>
          <a:xfrm>
            <a:off x="1554480" y="1801368"/>
            <a:ext cx="2743200" cy="822960"/>
          </a:xfrm>
          <a:prstGeom prst="rect">
            <a:avLst/>
          </a:prstGeom>
          <a:noFill/>
          <a:ln/>
        </p:spPr>
        <p:txBody>
          <a:bodyPr wrap="square" lIns="0" tIns="0" rIns="0" bIns="0" rtlCol="0" anchor="t"/>
          <a:lstStyle/>
          <a:p>
            <a:pPr indent="0" marL="0">
              <a:buNone/>
            </a:pPr>
            <a:r>
              <a:rPr lang="en-US" sz="1400" dirty="0">
                <a:solidFill>
                  <a:schemeClr val="tx1"/>
                </a:solidFill>
              </a:rPr>
              <a:t>Long waits and boarding, with arrivals that spike without warning.</a:t>
            </a:r>
            <a:endParaRPr lang="en-US" sz="1400" dirty="0"/>
          </a:p>
        </p:txBody>
      </p:sp>
      <p:sp>
        <p:nvSpPr>
          <p:cNvPr id="9" name="Card 16"/>
          <p:cNvSpPr/>
          <p:nvPr/>
        </p:nvSpPr>
        <p:spPr>
          <a:xfrm>
            <a:off x="4709160" y="1234440"/>
            <a:ext cx="3977640" cy="1508760"/>
          </a:xfrm>
          <a:prstGeom prst="roundRect">
            <a:avLst>
              <a:gd name="adj" fmla="val 6061"/>
            </a:avLst>
          </a:prstGeom>
          <a:solidFill>
            <a:schemeClr val="bg2"/>
          </a:solidFill>
          <a:ln w="12700">
            <a:solidFill>
              <a:schemeClr val="bg2"/>
            </a:solidFill>
            <a:prstDash val="solid"/>
          </a:ln>
        </p:spPr>
      </p:sp>
      <p:sp>
        <p:nvSpPr>
          <p:cNvPr id="10" name="Icon circle 17"/>
          <p:cNvSpPr/>
          <p:nvPr/>
        </p:nvSpPr>
        <p:spPr>
          <a:xfrm>
            <a:off x="4937760" y="1508760"/>
            <a:ext cx="640080" cy="640080"/>
          </a:xfrm>
          <a:prstGeom prst="ellipse">
            <a:avLst/>
          </a:prstGeom>
          <a:solidFill>
            <a:schemeClr val="accent1"/>
          </a:solidFill>
          <a:ln w="12700">
            <a:solidFill>
              <a:schemeClr val="accent1"/>
            </a:solidFill>
            <a:prstDash val="solid"/>
          </a:ln>
        </p:spPr>
      </p:sp>
      <p:pic>
        <p:nvPicPr>
          <p:cNvPr id="11" name="Icon 18" descr="icon">    </p:cNvPr>
          <p:cNvPicPr>
            <a:picLocks noChangeAspect="1"/>
          </p:cNvPicPr>
          <p:nvPr/>
        </p:nvPicPr>
        <p:blipFill>
          <a:blip r:embed="rId2"/>
          <a:stretch>
            <a:fillRect/>
          </a:stretch>
        </p:blipFill>
        <p:spPr>
          <a:xfrm>
            <a:off x="5110582" y="1681582"/>
            <a:ext cx="294437" cy="294437"/>
          </a:xfrm>
          <a:prstGeom prst="rect">
            <a:avLst/>
          </a:prstGeom>
        </p:spPr>
      </p:pic>
      <p:sp>
        <p:nvSpPr>
          <p:cNvPr id="12" name="Text 19"/>
          <p:cNvSpPr txBox="1"/>
          <p:nvPr/>
        </p:nvSpPr>
        <p:spPr>
          <a:xfrm>
            <a:off x="5806440" y="1435608"/>
            <a:ext cx="2743200" cy="292608"/>
          </a:xfrm>
          <a:prstGeom prst="rect">
            <a:avLst/>
          </a:prstGeom>
          <a:noFill/>
          <a:ln/>
        </p:spPr>
        <p:txBody>
          <a:bodyPr wrap="square" lIns="0" tIns="0" rIns="0" bIns="0" rtlCol="0" anchor="t"/>
          <a:lstStyle/>
          <a:p>
            <a:pPr indent="0" marL="0">
              <a:buNone/>
            </a:pPr>
            <a:r>
              <a:rPr lang="en-US" sz="1700" b="1" dirty="0">
                <a:solidFill>
                  <a:schemeClr val="tx2"/>
                </a:solidFill>
              </a:rPr>
              <a:t>Uneven utilization</a:t>
            </a:r>
            <a:endParaRPr lang="en-US" sz="1700" dirty="0"/>
          </a:p>
        </p:txBody>
      </p:sp>
      <p:sp>
        <p:nvSpPr>
          <p:cNvPr id="13" name="Text 20"/>
          <p:cNvSpPr txBox="1"/>
          <p:nvPr/>
        </p:nvSpPr>
        <p:spPr>
          <a:xfrm>
            <a:off x="5806440" y="1801368"/>
            <a:ext cx="2743200" cy="822960"/>
          </a:xfrm>
          <a:prstGeom prst="rect">
            <a:avLst/>
          </a:prstGeom>
          <a:noFill/>
          <a:ln/>
        </p:spPr>
        <p:txBody>
          <a:bodyPr wrap="square" lIns="0" tIns="0" rIns="0" bIns="0" rtlCol="0" anchor="t"/>
          <a:lstStyle/>
          <a:p>
            <a:pPr indent="0" marL="0">
              <a:buNone/>
            </a:pPr>
            <a:r>
              <a:rPr lang="en-US" sz="1400" dirty="0">
                <a:solidFill>
                  <a:schemeClr val="tx1"/>
                </a:solidFill>
              </a:rPr>
              <a:t>Some wards run over capacity while other beds, staff and scanners sit idle.</a:t>
            </a:r>
            <a:endParaRPr lang="en-US" sz="1400" dirty="0"/>
          </a:p>
        </p:txBody>
      </p:sp>
      <p:sp>
        <p:nvSpPr>
          <p:cNvPr id="14" name="Card 21"/>
          <p:cNvSpPr/>
          <p:nvPr/>
        </p:nvSpPr>
        <p:spPr>
          <a:xfrm>
            <a:off x="457200" y="2926080"/>
            <a:ext cx="3977640" cy="1508760"/>
          </a:xfrm>
          <a:prstGeom prst="roundRect">
            <a:avLst>
              <a:gd name="adj" fmla="val 6061"/>
            </a:avLst>
          </a:prstGeom>
          <a:solidFill>
            <a:schemeClr val="bg2"/>
          </a:solidFill>
          <a:ln w="12700">
            <a:solidFill>
              <a:schemeClr val="bg2"/>
            </a:solidFill>
            <a:prstDash val="solid"/>
          </a:ln>
        </p:spPr>
      </p:sp>
      <p:sp>
        <p:nvSpPr>
          <p:cNvPr id="15" name="Icon circle 22"/>
          <p:cNvSpPr/>
          <p:nvPr/>
        </p:nvSpPr>
        <p:spPr>
          <a:xfrm>
            <a:off x="685800" y="3200400"/>
            <a:ext cx="640080" cy="640080"/>
          </a:xfrm>
          <a:prstGeom prst="ellipse">
            <a:avLst/>
          </a:prstGeom>
          <a:solidFill>
            <a:schemeClr val="accent3"/>
          </a:solidFill>
          <a:ln w="12700">
            <a:solidFill>
              <a:schemeClr val="accent3"/>
            </a:solidFill>
            <a:prstDash val="solid"/>
          </a:ln>
        </p:spPr>
      </p:sp>
      <p:pic>
        <p:nvPicPr>
          <p:cNvPr id="16" name="Icon 23" descr="icon">    </p:cNvPr>
          <p:cNvPicPr>
            <a:picLocks noChangeAspect="1"/>
          </p:cNvPicPr>
          <p:nvPr/>
        </p:nvPicPr>
        <p:blipFill>
          <a:blip r:embed="rId3"/>
          <a:stretch>
            <a:fillRect/>
          </a:stretch>
        </p:blipFill>
        <p:spPr>
          <a:xfrm>
            <a:off x="858622" y="3373222"/>
            <a:ext cx="294437" cy="294437"/>
          </a:xfrm>
          <a:prstGeom prst="rect">
            <a:avLst/>
          </a:prstGeom>
        </p:spPr>
      </p:pic>
      <p:sp>
        <p:nvSpPr>
          <p:cNvPr id="17" name="Text 24"/>
          <p:cNvSpPr txBox="1"/>
          <p:nvPr/>
        </p:nvSpPr>
        <p:spPr>
          <a:xfrm>
            <a:off x="1554480" y="3127248"/>
            <a:ext cx="2743200" cy="292608"/>
          </a:xfrm>
          <a:prstGeom prst="rect">
            <a:avLst/>
          </a:prstGeom>
          <a:noFill/>
          <a:ln/>
        </p:spPr>
        <p:txBody>
          <a:bodyPr wrap="square" lIns="0" tIns="0" rIns="0" bIns="0" rtlCol="0" anchor="t"/>
          <a:lstStyle/>
          <a:p>
            <a:pPr indent="0" marL="0">
              <a:buNone/>
            </a:pPr>
            <a:r>
              <a:rPr lang="en-US" sz="1700" b="1" dirty="0">
                <a:solidFill>
                  <a:schemeClr val="tx2"/>
                </a:solidFill>
              </a:rPr>
              <a:t>Discharge delays</a:t>
            </a:r>
            <a:endParaRPr lang="en-US" sz="1700" dirty="0"/>
          </a:p>
        </p:txBody>
      </p:sp>
      <p:sp>
        <p:nvSpPr>
          <p:cNvPr id="18" name="Text 25"/>
          <p:cNvSpPr txBox="1"/>
          <p:nvPr/>
        </p:nvSpPr>
        <p:spPr>
          <a:xfrm>
            <a:off x="1554480" y="3493008"/>
            <a:ext cx="2743200" cy="822960"/>
          </a:xfrm>
          <a:prstGeom prst="rect">
            <a:avLst/>
          </a:prstGeom>
          <a:noFill/>
          <a:ln/>
        </p:spPr>
        <p:txBody>
          <a:bodyPr wrap="square" lIns="0" tIns="0" rIns="0" bIns="0" rtlCol="0" anchor="t"/>
          <a:lstStyle/>
          <a:p>
            <a:pPr indent="0" marL="0">
              <a:buNone/>
            </a:pPr>
            <a:r>
              <a:rPr lang="en-US" sz="1400" dirty="0">
                <a:solidFill>
                  <a:schemeClr val="tx1"/>
                </a:solidFill>
              </a:rPr>
              <a:t>Beds stay blocked for hours after patients are ready to leave.</a:t>
            </a:r>
            <a:endParaRPr lang="en-US" sz="1400" dirty="0"/>
          </a:p>
        </p:txBody>
      </p:sp>
      <p:sp>
        <p:nvSpPr>
          <p:cNvPr id="19" name="Card 26"/>
          <p:cNvSpPr/>
          <p:nvPr/>
        </p:nvSpPr>
        <p:spPr>
          <a:xfrm>
            <a:off x="4709160" y="2926080"/>
            <a:ext cx="3977640" cy="1508760"/>
          </a:xfrm>
          <a:prstGeom prst="roundRect">
            <a:avLst>
              <a:gd name="adj" fmla="val 6061"/>
            </a:avLst>
          </a:prstGeom>
          <a:solidFill>
            <a:schemeClr val="bg2"/>
          </a:solidFill>
          <a:ln w="12700">
            <a:solidFill>
              <a:schemeClr val="bg2"/>
            </a:solidFill>
            <a:prstDash val="solid"/>
          </a:ln>
        </p:spPr>
      </p:sp>
      <p:sp>
        <p:nvSpPr>
          <p:cNvPr id="20" name="Icon circle 27"/>
          <p:cNvSpPr/>
          <p:nvPr/>
        </p:nvSpPr>
        <p:spPr>
          <a:xfrm>
            <a:off x="4937760" y="3200400"/>
            <a:ext cx="640080" cy="640080"/>
          </a:xfrm>
          <a:prstGeom prst="ellipse">
            <a:avLst/>
          </a:prstGeom>
          <a:solidFill>
            <a:schemeClr val="accent4"/>
          </a:solidFill>
          <a:ln w="12700">
            <a:solidFill>
              <a:schemeClr val="accent4"/>
            </a:solidFill>
            <a:prstDash val="solid"/>
          </a:ln>
        </p:spPr>
      </p:sp>
      <p:pic>
        <p:nvPicPr>
          <p:cNvPr id="21" name="Icon 28" descr="icon">    </p:cNvPr>
          <p:cNvPicPr>
            <a:picLocks noChangeAspect="1"/>
          </p:cNvPicPr>
          <p:nvPr/>
        </p:nvPicPr>
        <p:blipFill>
          <a:blip r:embed="rId4"/>
          <a:stretch>
            <a:fillRect/>
          </a:stretch>
        </p:blipFill>
        <p:spPr>
          <a:xfrm>
            <a:off x="5110582" y="3373222"/>
            <a:ext cx="294437" cy="294437"/>
          </a:xfrm>
          <a:prstGeom prst="rect">
            <a:avLst/>
          </a:prstGeom>
        </p:spPr>
      </p:pic>
      <p:sp>
        <p:nvSpPr>
          <p:cNvPr id="22" name="Text 29"/>
          <p:cNvSpPr txBox="1"/>
          <p:nvPr/>
        </p:nvSpPr>
        <p:spPr>
          <a:xfrm>
            <a:off x="5806440" y="3127248"/>
            <a:ext cx="2743200" cy="292608"/>
          </a:xfrm>
          <a:prstGeom prst="rect">
            <a:avLst/>
          </a:prstGeom>
          <a:noFill/>
          <a:ln/>
        </p:spPr>
        <p:txBody>
          <a:bodyPr wrap="square" lIns="0" tIns="0" rIns="0" bIns="0" rtlCol="0" anchor="t"/>
          <a:lstStyle/>
          <a:p>
            <a:pPr indent="0" marL="0">
              <a:buNone/>
            </a:pPr>
            <a:r>
              <a:rPr lang="en-US" sz="1700" b="1" dirty="0">
                <a:solidFill>
                  <a:schemeClr val="tx2"/>
                </a:solidFill>
              </a:rPr>
              <a:t>Fragmented information</a:t>
            </a:r>
            <a:endParaRPr lang="en-US" sz="1700" dirty="0"/>
          </a:p>
        </p:txBody>
      </p:sp>
      <p:sp>
        <p:nvSpPr>
          <p:cNvPr id="23" name="Text 30"/>
          <p:cNvSpPr txBox="1"/>
          <p:nvPr/>
        </p:nvSpPr>
        <p:spPr>
          <a:xfrm>
            <a:off x="5806440" y="3493008"/>
            <a:ext cx="2743200" cy="822960"/>
          </a:xfrm>
          <a:prstGeom prst="rect">
            <a:avLst/>
          </a:prstGeom>
          <a:noFill/>
          <a:ln/>
        </p:spPr>
        <p:txBody>
          <a:bodyPr wrap="square" lIns="0" tIns="0" rIns="0" bIns="0" rtlCol="0" anchor="t"/>
          <a:lstStyle/>
          <a:p>
            <a:pPr indent="0" marL="0">
              <a:buNone/>
            </a:pPr>
            <a:r>
              <a:rPr lang="en-US" sz="1400" dirty="0">
                <a:solidFill>
                  <a:schemeClr val="tx1"/>
                </a:solidFill>
              </a:rPr>
              <a:t>Bed, staff and equipment status live in separate systems.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A Tuesday at 4:30 pm</a:t>
            </a:r>
            <a:endParaRPr lang="en-US" sz="3200" dirty="0"/>
          </a:p>
        </p:txBody>
      </p:sp>
      <p:sp>
        <p:nvSpPr>
          <p:cNvPr id="4" name="Card 31"/>
          <p:cNvSpPr/>
          <p:nvPr/>
        </p:nvSpPr>
        <p:spPr>
          <a:xfrm>
            <a:off x="457200" y="1188720"/>
            <a:ext cx="1920240" cy="1417320"/>
          </a:xfrm>
          <a:prstGeom prst="roundRect">
            <a:avLst>
              <a:gd name="adj" fmla="val 6452"/>
            </a:avLst>
          </a:prstGeom>
          <a:solidFill>
            <a:schemeClr val="bg2"/>
          </a:solidFill>
          <a:ln w="12700">
            <a:solidFill>
              <a:schemeClr val="bg2"/>
            </a:solidFill>
            <a:prstDash val="solid"/>
          </a:ln>
        </p:spPr>
      </p:sp>
      <p:sp>
        <p:nvSpPr>
          <p:cNvPr id="5" name="Text 32"/>
          <p:cNvSpPr txBox="1"/>
          <p:nvPr/>
        </p:nvSpPr>
        <p:spPr>
          <a:xfrm>
            <a:off x="640080" y="1280160"/>
            <a:ext cx="1554480" cy="64008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38</a:t>
            </a:r>
            <a:endParaRPr lang="en-US" sz="4000" dirty="0"/>
          </a:p>
        </p:txBody>
      </p:sp>
      <p:sp>
        <p:nvSpPr>
          <p:cNvPr id="6" name="Text 33"/>
          <p:cNvSpPr txBox="1"/>
          <p:nvPr/>
        </p:nvSpPr>
        <p:spPr>
          <a:xfrm>
            <a:off x="640080" y="1965960"/>
            <a:ext cx="1600200" cy="548640"/>
          </a:xfrm>
          <a:prstGeom prst="rect">
            <a:avLst/>
          </a:prstGeom>
          <a:noFill/>
          <a:ln/>
        </p:spPr>
        <p:txBody>
          <a:bodyPr wrap="square" lIns="0" tIns="0" rIns="0" bIns="0" rtlCol="0" anchor="t"/>
          <a:lstStyle/>
          <a:p>
            <a:pPr indent="0" marL="0">
              <a:buNone/>
            </a:pPr>
            <a:r>
              <a:rPr lang="en-US" sz="1400" dirty="0">
                <a:solidFill>
                  <a:schemeClr val="tx1"/>
                </a:solidFill>
              </a:rPr>
              <a:t>patients waiting in the ED</a:t>
            </a:r>
            <a:endParaRPr lang="en-US" sz="1400" dirty="0"/>
          </a:p>
        </p:txBody>
      </p:sp>
      <p:sp>
        <p:nvSpPr>
          <p:cNvPr id="7" name="Card 34"/>
          <p:cNvSpPr/>
          <p:nvPr/>
        </p:nvSpPr>
        <p:spPr>
          <a:xfrm>
            <a:off x="2560320" y="1188720"/>
            <a:ext cx="1920240" cy="1417320"/>
          </a:xfrm>
          <a:prstGeom prst="roundRect">
            <a:avLst>
              <a:gd name="adj" fmla="val 6452"/>
            </a:avLst>
          </a:prstGeom>
          <a:solidFill>
            <a:schemeClr val="bg2"/>
          </a:solidFill>
          <a:ln w="12700">
            <a:solidFill>
              <a:schemeClr val="bg2"/>
            </a:solidFill>
            <a:prstDash val="solid"/>
          </a:ln>
        </p:spPr>
      </p:sp>
      <p:sp>
        <p:nvSpPr>
          <p:cNvPr id="8" name="Text 35"/>
          <p:cNvSpPr txBox="1"/>
          <p:nvPr/>
        </p:nvSpPr>
        <p:spPr>
          <a:xfrm>
            <a:off x="2743200" y="1280160"/>
            <a:ext cx="1554480" cy="64008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14</a:t>
            </a:r>
            <a:endParaRPr lang="en-US" sz="4000" dirty="0"/>
          </a:p>
        </p:txBody>
      </p:sp>
      <p:sp>
        <p:nvSpPr>
          <p:cNvPr id="9" name="Text 36"/>
          <p:cNvSpPr txBox="1"/>
          <p:nvPr/>
        </p:nvSpPr>
        <p:spPr>
          <a:xfrm>
            <a:off x="2743200" y="1965960"/>
            <a:ext cx="1600200" cy="548640"/>
          </a:xfrm>
          <a:prstGeom prst="rect">
            <a:avLst/>
          </a:prstGeom>
          <a:noFill/>
          <a:ln/>
        </p:spPr>
        <p:txBody>
          <a:bodyPr wrap="square" lIns="0" tIns="0" rIns="0" bIns="0" rtlCol="0" anchor="t"/>
          <a:lstStyle/>
          <a:p>
            <a:pPr indent="0" marL="0">
              <a:buNone/>
            </a:pPr>
            <a:r>
              <a:rPr lang="en-US" sz="1400" dirty="0">
                <a:solidFill>
                  <a:schemeClr val="tx1"/>
                </a:solidFill>
              </a:rPr>
              <a:t>admitted patients boarding in the ED</a:t>
            </a:r>
            <a:endParaRPr lang="en-US" sz="1400" dirty="0"/>
          </a:p>
        </p:txBody>
      </p:sp>
      <p:sp>
        <p:nvSpPr>
          <p:cNvPr id="10" name="Card 37"/>
          <p:cNvSpPr/>
          <p:nvPr/>
        </p:nvSpPr>
        <p:spPr>
          <a:xfrm>
            <a:off x="4663440" y="1188720"/>
            <a:ext cx="1920240" cy="1417320"/>
          </a:xfrm>
          <a:prstGeom prst="roundRect">
            <a:avLst>
              <a:gd name="adj" fmla="val 6452"/>
            </a:avLst>
          </a:prstGeom>
          <a:solidFill>
            <a:schemeClr val="bg2"/>
          </a:solidFill>
          <a:ln w="12700">
            <a:solidFill>
              <a:schemeClr val="bg2"/>
            </a:solidFill>
            <a:prstDash val="solid"/>
          </a:ln>
        </p:spPr>
      </p:sp>
      <p:sp>
        <p:nvSpPr>
          <p:cNvPr id="11" name="Text 38"/>
          <p:cNvSpPr txBox="1"/>
          <p:nvPr/>
        </p:nvSpPr>
        <p:spPr>
          <a:xfrm>
            <a:off x="4846320" y="1280160"/>
            <a:ext cx="1554480" cy="64008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23</a:t>
            </a:r>
            <a:endParaRPr lang="en-US" sz="4000" dirty="0"/>
          </a:p>
        </p:txBody>
      </p:sp>
      <p:sp>
        <p:nvSpPr>
          <p:cNvPr id="12" name="Text 39"/>
          <p:cNvSpPr txBox="1"/>
          <p:nvPr/>
        </p:nvSpPr>
        <p:spPr>
          <a:xfrm>
            <a:off x="4846320" y="1965960"/>
            <a:ext cx="1600200" cy="548640"/>
          </a:xfrm>
          <a:prstGeom prst="rect">
            <a:avLst/>
          </a:prstGeom>
          <a:noFill/>
          <a:ln/>
        </p:spPr>
        <p:txBody>
          <a:bodyPr wrap="square" lIns="0" tIns="0" rIns="0" bIns="0" rtlCol="0" anchor="t"/>
          <a:lstStyle/>
          <a:p>
            <a:pPr indent="0" marL="0">
              <a:buNone/>
            </a:pPr>
            <a:r>
              <a:rPr lang="en-US" sz="1400" dirty="0">
                <a:solidFill>
                  <a:schemeClr val="tx1"/>
                </a:solidFill>
              </a:rPr>
              <a:t>free beds, but in the wrong wards</a:t>
            </a:r>
            <a:endParaRPr lang="en-US" sz="1400" dirty="0"/>
          </a:p>
        </p:txBody>
      </p:sp>
      <p:sp>
        <p:nvSpPr>
          <p:cNvPr id="13" name="Card 40"/>
          <p:cNvSpPr/>
          <p:nvPr/>
        </p:nvSpPr>
        <p:spPr>
          <a:xfrm>
            <a:off x="6766560" y="1188720"/>
            <a:ext cx="1920240" cy="1417320"/>
          </a:xfrm>
          <a:prstGeom prst="roundRect">
            <a:avLst>
              <a:gd name="adj" fmla="val 6452"/>
            </a:avLst>
          </a:prstGeom>
          <a:solidFill>
            <a:schemeClr val="bg2"/>
          </a:solidFill>
          <a:ln w="12700">
            <a:solidFill>
              <a:schemeClr val="bg2"/>
            </a:solidFill>
            <a:prstDash val="solid"/>
          </a:ln>
        </p:spPr>
      </p:sp>
      <p:sp>
        <p:nvSpPr>
          <p:cNvPr id="14" name="Text 41"/>
          <p:cNvSpPr txBox="1"/>
          <p:nvPr/>
        </p:nvSpPr>
        <p:spPr>
          <a:xfrm>
            <a:off x="6949440" y="1280160"/>
            <a:ext cx="1554480" cy="64008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40%</a:t>
            </a:r>
            <a:endParaRPr lang="en-US" sz="4000" dirty="0"/>
          </a:p>
        </p:txBody>
      </p:sp>
      <p:sp>
        <p:nvSpPr>
          <p:cNvPr id="15" name="Text 42"/>
          <p:cNvSpPr txBox="1"/>
          <p:nvPr/>
        </p:nvSpPr>
        <p:spPr>
          <a:xfrm>
            <a:off x="6949440" y="1965960"/>
            <a:ext cx="1600200" cy="548640"/>
          </a:xfrm>
          <a:prstGeom prst="rect">
            <a:avLst/>
          </a:prstGeom>
          <a:noFill/>
          <a:ln/>
        </p:spPr>
        <p:txBody>
          <a:bodyPr wrap="square" lIns="0" tIns="0" rIns="0" bIns="0" rtlCol="0" anchor="t"/>
          <a:lstStyle/>
          <a:p>
            <a:pPr indent="0" marL="0">
              <a:buNone/>
            </a:pPr>
            <a:r>
              <a:rPr lang="en-US" sz="1400" dirty="0">
                <a:solidFill>
                  <a:schemeClr val="tx1"/>
                </a:solidFill>
              </a:rPr>
              <a:t>CT scanner idle this afternoon</a:t>
            </a:r>
            <a:endParaRPr lang="en-US" sz="1400" dirty="0"/>
          </a:p>
        </p:txBody>
      </p:sp>
      <p:sp>
        <p:nvSpPr>
          <p:cNvPr id="16" name="Card 43"/>
          <p:cNvSpPr/>
          <p:nvPr/>
        </p:nvSpPr>
        <p:spPr>
          <a:xfrm>
            <a:off x="457200" y="2834640"/>
            <a:ext cx="4023360" cy="1463040"/>
          </a:xfrm>
          <a:prstGeom prst="roundRect">
            <a:avLst>
              <a:gd name="adj" fmla="val 6250"/>
            </a:avLst>
          </a:prstGeom>
          <a:solidFill>
            <a:schemeClr val="bg2"/>
          </a:solidFill>
          <a:ln w="12700">
            <a:solidFill>
              <a:schemeClr val="bg2"/>
            </a:solidFill>
            <a:prstDash val="solid"/>
          </a:ln>
        </p:spPr>
      </p:sp>
      <p:sp>
        <p:nvSpPr>
          <p:cNvPr id="17" name="Text 44"/>
          <p:cNvSpPr txBox="1"/>
          <p:nvPr/>
        </p:nvSpPr>
        <p:spPr>
          <a:xfrm>
            <a:off x="685800" y="2971800"/>
            <a:ext cx="3566160" cy="320040"/>
          </a:xfrm>
          <a:prstGeom prst="rect">
            <a:avLst/>
          </a:prstGeom>
          <a:noFill/>
          <a:ln/>
        </p:spPr>
        <p:txBody>
          <a:bodyPr wrap="square" lIns="0" tIns="0" rIns="0" bIns="0" rtlCol="0" anchor="t"/>
          <a:lstStyle/>
          <a:p>
            <a:pPr indent="0" marL="0">
              <a:buNone/>
            </a:pPr>
            <a:r>
              <a:rPr lang="en-US" sz="1800" b="1" dirty="0">
                <a:solidFill>
                  <a:schemeClr val="tx2"/>
                </a:solidFill>
              </a:rPr>
              <a:t>Without coordination</a:t>
            </a:r>
            <a:endParaRPr lang="en-US" sz="1800" dirty="0"/>
          </a:p>
        </p:txBody>
      </p:sp>
      <p:sp>
        <p:nvSpPr>
          <p:cNvPr id="18" name="Text 45"/>
          <p:cNvSpPr txBox="1"/>
          <p:nvPr/>
        </p:nvSpPr>
        <p:spPr>
          <a:xfrm>
            <a:off x="685800" y="3383280"/>
            <a:ext cx="3566160" cy="1005840"/>
          </a:xfrm>
          <a:prstGeom prst="rect">
            <a:avLst/>
          </a:prstGeom>
          <a:noFill/>
          <a:ln/>
        </p:spPr>
        <p:txBody>
          <a:bodyPr wrap="square" lIns="0" tIns="0" rIns="0" bIns="0" rtlCol="0" anchor="t"/>
          <a:lstStyle/>
          <a:p>
            <a:pPr indent="0" marL="0">
              <a:buNone/>
            </a:pPr>
            <a:r>
              <a:rPr lang="en-US" sz="1400" dirty="0">
                <a:solidFill>
                  <a:schemeClr val="tx1"/>
                </a:solidFill>
              </a:rPr>
              <a:t>ED wait passes 2 hours by 6 pm. A bed frees up on 4B at 5 pm, but nobody sees it in time.</a:t>
            </a:r>
            <a:endParaRPr lang="en-US" sz="1400" dirty="0"/>
          </a:p>
        </p:txBody>
      </p:sp>
      <p:sp>
        <p:nvSpPr>
          <p:cNvPr id="19" name="Card 46"/>
          <p:cNvSpPr/>
          <p:nvPr/>
        </p:nvSpPr>
        <p:spPr>
          <a:xfrm>
            <a:off x="4663440" y="2834640"/>
            <a:ext cx="4023360" cy="1463040"/>
          </a:xfrm>
          <a:prstGeom prst="roundRect">
            <a:avLst>
              <a:gd name="adj" fmla="val 6250"/>
            </a:avLst>
          </a:prstGeom>
          <a:solidFill>
            <a:schemeClr val="tx2"/>
          </a:solidFill>
          <a:ln w="12700">
            <a:solidFill>
              <a:schemeClr val="tx2"/>
            </a:solidFill>
            <a:prstDash val="solid"/>
          </a:ln>
        </p:spPr>
      </p:sp>
      <p:sp>
        <p:nvSpPr>
          <p:cNvPr id="20" name="Text 47"/>
          <p:cNvSpPr txBox="1"/>
          <p:nvPr/>
        </p:nvSpPr>
        <p:spPr>
          <a:xfrm>
            <a:off x="4892040" y="2971800"/>
            <a:ext cx="3566160" cy="320040"/>
          </a:xfrm>
          <a:prstGeom prst="rect">
            <a:avLst/>
          </a:prstGeom>
          <a:noFill/>
          <a:ln/>
        </p:spPr>
        <p:txBody>
          <a:bodyPr wrap="square" lIns="0" tIns="0" rIns="0" bIns="0" rtlCol="0" anchor="t"/>
          <a:lstStyle/>
          <a:p>
            <a:pPr indent="0" marL="0">
              <a:buNone/>
            </a:pPr>
            <a:r>
              <a:rPr lang="en-US" sz="1800" b="1" dirty="0">
                <a:solidFill>
                  <a:schemeClr val="accent3"/>
                </a:solidFill>
              </a:rPr>
              <a:t>With MediFlow</a:t>
            </a:r>
            <a:endParaRPr lang="en-US" sz="1800" dirty="0"/>
          </a:p>
        </p:txBody>
      </p:sp>
      <p:sp>
        <p:nvSpPr>
          <p:cNvPr id="21" name="Text 48"/>
          <p:cNvSpPr txBox="1"/>
          <p:nvPr/>
        </p:nvSpPr>
        <p:spPr>
          <a:xfrm>
            <a:off x="4892040" y="3383280"/>
            <a:ext cx="3566160" cy="1005840"/>
          </a:xfrm>
          <a:prstGeom prst="rect">
            <a:avLst/>
          </a:prstGeom>
          <a:noFill/>
          <a:ln/>
        </p:spPr>
        <p:txBody>
          <a:bodyPr wrap="square" lIns="0" tIns="0" rIns="0" bIns="0" rtlCol="0" anchor="t"/>
          <a:lstStyle/>
          <a:p>
            <a:pPr indent="0" marL="0">
              <a:buNone/>
            </a:pPr>
            <a:r>
              <a:rPr lang="en-US" sz="1400" dirty="0">
                <a:solidFill>
                  <a:schemeClr val="bg1"/>
                </a:solidFill>
              </a:rPr>
              <a:t>Surge flagged at 2:30 pm. Discharges on 4B pulled forward, boarders moved, fast-track lane opened.</a:t>
            </a:r>
            <a:endParaRPr lang="en-US" sz="1400" dirty="0"/>
          </a:p>
        </p:txBody>
      </p:sp>
      <p:sp>
        <p:nvSpPr>
          <p:cNvPr id="22" name="Text 49"/>
          <p:cNvSpPr txBox="1"/>
          <p:nvPr/>
        </p:nvSpPr>
        <p:spPr>
          <a:xfrm>
            <a:off x="457200" y="4480560"/>
            <a:ext cx="2743200" cy="201168"/>
          </a:xfrm>
          <a:prstGeom prst="rect">
            <a:avLst/>
          </a:prstGeom>
          <a:noFill/>
          <a:ln/>
        </p:spPr>
        <p:txBody>
          <a:bodyPr wrap="square" lIns="0" tIns="0" rIns="0" bIns="0" rtlCol="0" anchor="t"/>
          <a:lstStyle/>
          <a:p>
            <a:pPr indent="0" marL="0">
              <a:buNone/>
            </a:pPr>
            <a:r>
              <a:rPr lang="en-US" sz="1100" i="1" dirty="0">
                <a:solidFill>
                  <a:schemeClr val="accent5"/>
                </a:solidFill>
              </a:rPr>
              <a:t>Simulated scenario</a:t>
            </a:r>
            <a:endParaRPr lang="en-US" sz="11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How MediFlow works</a:t>
            </a:r>
            <a:endParaRPr lang="en-US" sz="3200" dirty="0"/>
          </a:p>
        </p:txBody>
      </p:sp>
      <p:sp>
        <p:nvSpPr>
          <p:cNvPr id="4" name="Card 50"/>
          <p:cNvSpPr/>
          <p:nvPr/>
        </p:nvSpPr>
        <p:spPr>
          <a:xfrm>
            <a:off x="457200" y="1280160"/>
            <a:ext cx="1828800" cy="2651760"/>
          </a:xfrm>
          <a:prstGeom prst="roundRect">
            <a:avLst>
              <a:gd name="adj" fmla="val 5000"/>
            </a:avLst>
          </a:prstGeom>
          <a:solidFill>
            <a:schemeClr val="bg2"/>
          </a:solidFill>
          <a:ln w="12700">
            <a:solidFill>
              <a:schemeClr val="bg2"/>
            </a:solidFill>
            <a:prstDash val="solid"/>
          </a:ln>
        </p:spPr>
      </p:sp>
      <p:sp>
        <p:nvSpPr>
          <p:cNvPr id="5" name="Icon circle 51"/>
          <p:cNvSpPr/>
          <p:nvPr/>
        </p:nvSpPr>
        <p:spPr>
          <a:xfrm>
            <a:off x="640080" y="1463040"/>
            <a:ext cx="548640" cy="548640"/>
          </a:xfrm>
          <a:prstGeom prst="ellipse">
            <a:avLst/>
          </a:prstGeom>
          <a:solidFill>
            <a:schemeClr val="accent1"/>
          </a:solidFill>
          <a:ln w="12700">
            <a:solidFill>
              <a:schemeClr val="accent1"/>
            </a:solidFill>
            <a:prstDash val="solid"/>
          </a:ln>
        </p:spPr>
      </p:sp>
      <p:pic>
        <p:nvPicPr>
          <p:cNvPr id="6" name="Icon 52" descr="icon">    </p:cNvPr>
          <p:cNvPicPr>
            <a:picLocks noChangeAspect="1"/>
          </p:cNvPicPr>
          <p:nvPr/>
        </p:nvPicPr>
        <p:blipFill>
          <a:blip r:embed="rId1"/>
          <a:stretch>
            <a:fillRect/>
          </a:stretch>
        </p:blipFill>
        <p:spPr>
          <a:xfrm>
            <a:off x="788213" y="1611173"/>
            <a:ext cx="252374" cy="252374"/>
          </a:xfrm>
          <a:prstGeom prst="rect">
            <a:avLst/>
          </a:prstGeom>
        </p:spPr>
      </p:pic>
      <p:sp>
        <p:nvSpPr>
          <p:cNvPr id="7" name="Text 53"/>
          <p:cNvSpPr txBox="1"/>
          <p:nvPr/>
        </p:nvSpPr>
        <p:spPr>
          <a:xfrm>
            <a:off x="640080" y="2148840"/>
            <a:ext cx="1508760" cy="320040"/>
          </a:xfrm>
          <a:prstGeom prst="rect">
            <a:avLst/>
          </a:prstGeom>
          <a:noFill/>
          <a:ln/>
        </p:spPr>
        <p:txBody>
          <a:bodyPr wrap="square" lIns="0" tIns="0" rIns="0" bIns="0" rtlCol="0" anchor="t"/>
          <a:lstStyle/>
          <a:p>
            <a:pPr indent="0" marL="0">
              <a:buNone/>
            </a:pPr>
            <a:r>
              <a:rPr lang="en-US" sz="1800" b="1" dirty="0">
                <a:solidFill>
                  <a:schemeClr val="tx2"/>
                </a:solidFill>
              </a:rPr>
              <a:t>Sense</a:t>
            </a:r>
            <a:endParaRPr lang="en-US" sz="1800" dirty="0"/>
          </a:p>
        </p:txBody>
      </p:sp>
      <p:sp>
        <p:nvSpPr>
          <p:cNvPr id="8" name="Text 54"/>
          <p:cNvSpPr txBox="1"/>
          <p:nvPr/>
        </p:nvSpPr>
        <p:spPr>
          <a:xfrm>
            <a:off x="640080" y="2560320"/>
            <a:ext cx="1508760" cy="1280160"/>
          </a:xfrm>
          <a:prstGeom prst="rect">
            <a:avLst/>
          </a:prstGeom>
          <a:noFill/>
          <a:ln/>
        </p:spPr>
        <p:txBody>
          <a:bodyPr wrap="square" lIns="0" tIns="0" rIns="0" bIns="0" rtlCol="0" anchor="t"/>
          <a:lstStyle/>
          <a:p>
            <a:pPr indent="0" marL="0">
              <a:buNone/>
            </a:pPr>
            <a:r>
              <a:rPr lang="en-US" sz="1400" dirty="0">
                <a:solidFill>
                  <a:schemeClr val="tx1"/>
                </a:solidFill>
              </a:rPr>
              <a:t>Live admissions, appointments, bed status, rosters and equipment use</a:t>
            </a:r>
            <a:endParaRPr lang="en-US" sz="1400" dirty="0"/>
          </a:p>
        </p:txBody>
      </p:sp>
      <p:pic>
        <p:nvPicPr>
          <p:cNvPr id="9" name="Arrow 55" descr="next">    </p:cNvPr>
          <p:cNvPicPr>
            <a:picLocks noChangeAspect="1"/>
          </p:cNvPicPr>
          <p:nvPr/>
        </p:nvPicPr>
        <p:blipFill>
          <a:blip r:embed="rId2"/>
          <a:stretch>
            <a:fillRect/>
          </a:stretch>
        </p:blipFill>
        <p:spPr>
          <a:xfrm>
            <a:off x="2322576" y="2468880"/>
            <a:ext cx="228600" cy="228600"/>
          </a:xfrm>
          <a:prstGeom prst="rect">
            <a:avLst/>
          </a:prstGeom>
        </p:spPr>
      </p:pic>
      <p:sp>
        <p:nvSpPr>
          <p:cNvPr id="10" name="Card 56"/>
          <p:cNvSpPr/>
          <p:nvPr/>
        </p:nvSpPr>
        <p:spPr>
          <a:xfrm>
            <a:off x="2587752" y="1280160"/>
            <a:ext cx="1828800" cy="2651760"/>
          </a:xfrm>
          <a:prstGeom prst="roundRect">
            <a:avLst>
              <a:gd name="adj" fmla="val 5000"/>
            </a:avLst>
          </a:prstGeom>
          <a:solidFill>
            <a:schemeClr val="bg2"/>
          </a:solidFill>
          <a:ln w="12700">
            <a:solidFill>
              <a:schemeClr val="bg2"/>
            </a:solidFill>
            <a:prstDash val="solid"/>
          </a:ln>
        </p:spPr>
      </p:sp>
      <p:sp>
        <p:nvSpPr>
          <p:cNvPr id="11" name="Icon circle 57"/>
          <p:cNvSpPr/>
          <p:nvPr/>
        </p:nvSpPr>
        <p:spPr>
          <a:xfrm>
            <a:off x="2770632" y="1463040"/>
            <a:ext cx="548640" cy="548640"/>
          </a:xfrm>
          <a:prstGeom prst="ellipse">
            <a:avLst/>
          </a:prstGeom>
          <a:solidFill>
            <a:schemeClr val="accent4"/>
          </a:solidFill>
          <a:ln w="12700">
            <a:solidFill>
              <a:schemeClr val="accent4"/>
            </a:solidFill>
            <a:prstDash val="solid"/>
          </a:ln>
        </p:spPr>
      </p:sp>
      <p:pic>
        <p:nvPicPr>
          <p:cNvPr id="12" name="Icon 58" descr="icon">    </p:cNvPr>
          <p:cNvPicPr>
            <a:picLocks noChangeAspect="1"/>
          </p:cNvPicPr>
          <p:nvPr/>
        </p:nvPicPr>
        <p:blipFill>
          <a:blip r:embed="rId3"/>
          <a:stretch>
            <a:fillRect/>
          </a:stretch>
        </p:blipFill>
        <p:spPr>
          <a:xfrm>
            <a:off x="2918765" y="1611173"/>
            <a:ext cx="252374" cy="252374"/>
          </a:xfrm>
          <a:prstGeom prst="rect">
            <a:avLst/>
          </a:prstGeom>
        </p:spPr>
      </p:pic>
      <p:sp>
        <p:nvSpPr>
          <p:cNvPr id="13" name="Text 59"/>
          <p:cNvSpPr txBox="1"/>
          <p:nvPr/>
        </p:nvSpPr>
        <p:spPr>
          <a:xfrm>
            <a:off x="2770632" y="2148840"/>
            <a:ext cx="1508760" cy="320040"/>
          </a:xfrm>
          <a:prstGeom prst="rect">
            <a:avLst/>
          </a:prstGeom>
          <a:noFill/>
          <a:ln/>
        </p:spPr>
        <p:txBody>
          <a:bodyPr wrap="square" lIns="0" tIns="0" rIns="0" bIns="0" rtlCol="0" anchor="t"/>
          <a:lstStyle/>
          <a:p>
            <a:pPr indent="0" marL="0">
              <a:buNone/>
            </a:pPr>
            <a:r>
              <a:rPr lang="en-US" sz="1800" b="1" dirty="0">
                <a:solidFill>
                  <a:schemeClr val="tx2"/>
                </a:solidFill>
              </a:rPr>
              <a:t>Predict</a:t>
            </a:r>
            <a:endParaRPr lang="en-US" sz="1800" dirty="0"/>
          </a:p>
        </p:txBody>
      </p:sp>
      <p:sp>
        <p:nvSpPr>
          <p:cNvPr id="14" name="Text 60"/>
          <p:cNvSpPr txBox="1"/>
          <p:nvPr/>
        </p:nvSpPr>
        <p:spPr>
          <a:xfrm>
            <a:off x="2770632" y="2560320"/>
            <a:ext cx="1508760" cy="1280160"/>
          </a:xfrm>
          <a:prstGeom prst="rect">
            <a:avLst/>
          </a:prstGeom>
          <a:noFill/>
          <a:ln/>
        </p:spPr>
        <p:txBody>
          <a:bodyPr wrap="square" lIns="0" tIns="0" rIns="0" bIns="0" rtlCol="0" anchor="t"/>
          <a:lstStyle/>
          <a:p>
            <a:pPr indent="0" marL="0">
              <a:buNone/>
            </a:pPr>
            <a:r>
              <a:rPr lang="en-US" sz="1400" dirty="0">
                <a:solidFill>
                  <a:schemeClr val="tx1"/>
                </a:solidFill>
              </a:rPr>
              <a:t>Arrivals, waits and bottlenecks for the next 24 to 72 hours</a:t>
            </a:r>
            <a:endParaRPr lang="en-US" sz="1400" dirty="0"/>
          </a:p>
        </p:txBody>
      </p:sp>
      <p:pic>
        <p:nvPicPr>
          <p:cNvPr id="15" name="Arrow 61" descr="next">    </p:cNvPr>
          <p:cNvPicPr>
            <a:picLocks noChangeAspect="1"/>
          </p:cNvPicPr>
          <p:nvPr/>
        </p:nvPicPr>
        <p:blipFill>
          <a:blip r:embed="rId4"/>
          <a:stretch>
            <a:fillRect/>
          </a:stretch>
        </p:blipFill>
        <p:spPr>
          <a:xfrm>
            <a:off x="4453128" y="2468880"/>
            <a:ext cx="228600" cy="228600"/>
          </a:xfrm>
          <a:prstGeom prst="rect">
            <a:avLst/>
          </a:prstGeom>
        </p:spPr>
      </p:pic>
      <p:sp>
        <p:nvSpPr>
          <p:cNvPr id="16" name="Card 62"/>
          <p:cNvSpPr/>
          <p:nvPr/>
        </p:nvSpPr>
        <p:spPr>
          <a:xfrm>
            <a:off x="4718304" y="1280160"/>
            <a:ext cx="1828800" cy="2651760"/>
          </a:xfrm>
          <a:prstGeom prst="roundRect">
            <a:avLst>
              <a:gd name="adj" fmla="val 5000"/>
            </a:avLst>
          </a:prstGeom>
          <a:solidFill>
            <a:schemeClr val="bg2"/>
          </a:solidFill>
          <a:ln w="12700">
            <a:solidFill>
              <a:schemeClr val="bg2"/>
            </a:solidFill>
            <a:prstDash val="solid"/>
          </a:ln>
        </p:spPr>
      </p:sp>
      <p:sp>
        <p:nvSpPr>
          <p:cNvPr id="17" name="Icon circle 63"/>
          <p:cNvSpPr/>
          <p:nvPr/>
        </p:nvSpPr>
        <p:spPr>
          <a:xfrm>
            <a:off x="4901184" y="1463040"/>
            <a:ext cx="548640" cy="548640"/>
          </a:xfrm>
          <a:prstGeom prst="ellipse">
            <a:avLst/>
          </a:prstGeom>
          <a:solidFill>
            <a:schemeClr val="accent3"/>
          </a:solidFill>
          <a:ln w="12700">
            <a:solidFill>
              <a:schemeClr val="accent3"/>
            </a:solidFill>
            <a:prstDash val="solid"/>
          </a:ln>
        </p:spPr>
      </p:sp>
      <p:pic>
        <p:nvPicPr>
          <p:cNvPr id="18" name="Icon 64" descr="icon">    </p:cNvPr>
          <p:cNvPicPr>
            <a:picLocks noChangeAspect="1"/>
          </p:cNvPicPr>
          <p:nvPr/>
        </p:nvPicPr>
        <p:blipFill>
          <a:blip r:embed="rId5"/>
          <a:stretch>
            <a:fillRect/>
          </a:stretch>
        </p:blipFill>
        <p:spPr>
          <a:xfrm>
            <a:off x="5049317" y="1611173"/>
            <a:ext cx="252374" cy="252374"/>
          </a:xfrm>
          <a:prstGeom prst="rect">
            <a:avLst/>
          </a:prstGeom>
        </p:spPr>
      </p:pic>
      <p:sp>
        <p:nvSpPr>
          <p:cNvPr id="19" name="Text 65"/>
          <p:cNvSpPr txBox="1"/>
          <p:nvPr/>
        </p:nvSpPr>
        <p:spPr>
          <a:xfrm>
            <a:off x="4901184" y="2148840"/>
            <a:ext cx="1508760" cy="320040"/>
          </a:xfrm>
          <a:prstGeom prst="rect">
            <a:avLst/>
          </a:prstGeom>
          <a:noFill/>
          <a:ln/>
        </p:spPr>
        <p:txBody>
          <a:bodyPr wrap="square" lIns="0" tIns="0" rIns="0" bIns="0" rtlCol="0" anchor="t"/>
          <a:lstStyle/>
          <a:p>
            <a:pPr indent="0" marL="0">
              <a:buNone/>
            </a:pPr>
            <a:r>
              <a:rPr lang="en-US" sz="1800" b="1" dirty="0">
                <a:solidFill>
                  <a:schemeClr val="tx2"/>
                </a:solidFill>
              </a:rPr>
              <a:t>Recommend</a:t>
            </a:r>
            <a:endParaRPr lang="en-US" sz="1800" dirty="0"/>
          </a:p>
        </p:txBody>
      </p:sp>
      <p:sp>
        <p:nvSpPr>
          <p:cNvPr id="20" name="Text 66"/>
          <p:cNvSpPr txBox="1"/>
          <p:nvPr/>
        </p:nvSpPr>
        <p:spPr>
          <a:xfrm>
            <a:off x="4901184" y="2560320"/>
            <a:ext cx="1508760" cy="1280160"/>
          </a:xfrm>
          <a:prstGeom prst="rect">
            <a:avLst/>
          </a:prstGeom>
          <a:noFill/>
          <a:ln/>
        </p:spPr>
        <p:txBody>
          <a:bodyPr wrap="square" lIns="0" tIns="0" rIns="0" bIns="0" rtlCol="0" anchor="t"/>
          <a:lstStyle/>
          <a:p>
            <a:pPr indent="0" marL="0">
              <a:buNone/>
            </a:pPr>
            <a:r>
              <a:rPr lang="en-US" sz="1400" dirty="0">
                <a:solidFill>
                  <a:schemeClr val="tx1"/>
                </a:solidFill>
              </a:rPr>
              <a:t>Ranked actions: bed matches, transfers, staffing, scan slots</a:t>
            </a:r>
            <a:endParaRPr lang="en-US" sz="1400" dirty="0"/>
          </a:p>
        </p:txBody>
      </p:sp>
      <p:pic>
        <p:nvPicPr>
          <p:cNvPr id="21" name="Arrow 67" descr="next">    </p:cNvPr>
          <p:cNvPicPr>
            <a:picLocks noChangeAspect="1"/>
          </p:cNvPicPr>
          <p:nvPr/>
        </p:nvPicPr>
        <p:blipFill>
          <a:blip r:embed="rId6"/>
          <a:stretch>
            <a:fillRect/>
          </a:stretch>
        </p:blipFill>
        <p:spPr>
          <a:xfrm>
            <a:off x="6583680" y="2468880"/>
            <a:ext cx="228600" cy="228600"/>
          </a:xfrm>
          <a:prstGeom prst="rect">
            <a:avLst/>
          </a:prstGeom>
        </p:spPr>
      </p:pic>
      <p:sp>
        <p:nvSpPr>
          <p:cNvPr id="22" name="Card 68"/>
          <p:cNvSpPr/>
          <p:nvPr/>
        </p:nvSpPr>
        <p:spPr>
          <a:xfrm>
            <a:off x="6848856" y="1280160"/>
            <a:ext cx="1828800" cy="2651760"/>
          </a:xfrm>
          <a:prstGeom prst="roundRect">
            <a:avLst>
              <a:gd name="adj" fmla="val 5000"/>
            </a:avLst>
          </a:prstGeom>
          <a:solidFill>
            <a:schemeClr val="bg2"/>
          </a:solidFill>
          <a:ln w="12700">
            <a:solidFill>
              <a:schemeClr val="bg2"/>
            </a:solidFill>
            <a:prstDash val="solid"/>
          </a:ln>
        </p:spPr>
      </p:sp>
      <p:sp>
        <p:nvSpPr>
          <p:cNvPr id="23" name="Icon circle 69"/>
          <p:cNvSpPr/>
          <p:nvPr/>
        </p:nvSpPr>
        <p:spPr>
          <a:xfrm>
            <a:off x="7031736" y="1463040"/>
            <a:ext cx="548640" cy="548640"/>
          </a:xfrm>
          <a:prstGeom prst="ellipse">
            <a:avLst/>
          </a:prstGeom>
          <a:solidFill>
            <a:schemeClr val="accent2"/>
          </a:solidFill>
          <a:ln w="12700">
            <a:solidFill>
              <a:schemeClr val="accent2"/>
            </a:solidFill>
            <a:prstDash val="solid"/>
          </a:ln>
        </p:spPr>
      </p:sp>
      <p:pic>
        <p:nvPicPr>
          <p:cNvPr id="24" name="Icon 70" descr="icon">    </p:cNvPr>
          <p:cNvPicPr>
            <a:picLocks noChangeAspect="1"/>
          </p:cNvPicPr>
          <p:nvPr/>
        </p:nvPicPr>
        <p:blipFill>
          <a:blip r:embed="rId7"/>
          <a:stretch>
            <a:fillRect/>
          </a:stretch>
        </p:blipFill>
        <p:spPr>
          <a:xfrm>
            <a:off x="7179869" y="1611173"/>
            <a:ext cx="252374" cy="252374"/>
          </a:xfrm>
          <a:prstGeom prst="rect">
            <a:avLst/>
          </a:prstGeom>
        </p:spPr>
      </p:pic>
      <p:sp>
        <p:nvSpPr>
          <p:cNvPr id="25" name="Text 71"/>
          <p:cNvSpPr txBox="1"/>
          <p:nvPr/>
        </p:nvSpPr>
        <p:spPr>
          <a:xfrm>
            <a:off x="7031736" y="2148840"/>
            <a:ext cx="1508760" cy="320040"/>
          </a:xfrm>
          <a:prstGeom prst="rect">
            <a:avLst/>
          </a:prstGeom>
          <a:noFill/>
          <a:ln/>
        </p:spPr>
        <p:txBody>
          <a:bodyPr wrap="square" lIns="0" tIns="0" rIns="0" bIns="0" rtlCol="0" anchor="t"/>
          <a:lstStyle/>
          <a:p>
            <a:pPr indent="0" marL="0">
              <a:buNone/>
            </a:pPr>
            <a:r>
              <a:rPr lang="en-US" sz="1800" b="1" dirty="0">
                <a:solidFill>
                  <a:schemeClr val="tx2"/>
                </a:solidFill>
              </a:rPr>
              <a:t>Act and learn</a:t>
            </a:r>
            <a:endParaRPr lang="en-US" sz="1800" dirty="0"/>
          </a:p>
        </p:txBody>
      </p:sp>
      <p:sp>
        <p:nvSpPr>
          <p:cNvPr id="26" name="Text 72"/>
          <p:cNvSpPr txBox="1"/>
          <p:nvPr/>
        </p:nvSpPr>
        <p:spPr>
          <a:xfrm>
            <a:off x="7031736" y="2560320"/>
            <a:ext cx="1508760" cy="1280160"/>
          </a:xfrm>
          <a:prstGeom prst="rect">
            <a:avLst/>
          </a:prstGeom>
          <a:noFill/>
          <a:ln/>
        </p:spPr>
        <p:txBody>
          <a:bodyPr wrap="square" lIns="0" tIns="0" rIns="0" bIns="0" rtlCol="0" anchor="t"/>
          <a:lstStyle/>
          <a:p>
            <a:pPr indent="0" marL="0">
              <a:buNone/>
            </a:pPr>
            <a:r>
              <a:rPr lang="en-US" sz="1400" dirty="0">
                <a:solidFill>
                  <a:schemeClr val="tx1"/>
                </a:solidFill>
              </a:rPr>
              <a:t>Clinician approves; outcomes improve the models</a:t>
            </a:r>
            <a:endParaRPr lang="en-US" sz="1400" dirty="0"/>
          </a:p>
        </p:txBody>
      </p:sp>
      <p:sp>
        <p:nvSpPr>
          <p:cNvPr id="27" name="Card 73"/>
          <p:cNvSpPr/>
          <p:nvPr/>
        </p:nvSpPr>
        <p:spPr>
          <a:xfrm>
            <a:off x="457200" y="4114800"/>
            <a:ext cx="8229600" cy="548640"/>
          </a:xfrm>
          <a:prstGeom prst="roundRect">
            <a:avLst>
              <a:gd name="adj" fmla="val 16667"/>
            </a:avLst>
          </a:prstGeom>
          <a:solidFill>
            <a:schemeClr val="tx2"/>
          </a:solidFill>
          <a:ln w="12700">
            <a:solidFill>
              <a:schemeClr val="tx2"/>
            </a:solidFill>
            <a:prstDash val="solid"/>
          </a:ln>
        </p:spPr>
      </p:sp>
      <p:sp>
        <p:nvSpPr>
          <p:cNvPr id="28" name="Text 74"/>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400" b="1" dirty="0">
                <a:solidFill>
                  <a:schemeClr val="bg1"/>
                </a:solidFill>
              </a:rPr>
              <a:t>Clinicians stay in control: every recommendation is explainable and needs human approval</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Six modules, one platform</a:t>
            </a:r>
            <a:endParaRPr lang="en-US" sz="3200" dirty="0"/>
          </a:p>
        </p:txBody>
      </p:sp>
      <p:sp>
        <p:nvSpPr>
          <p:cNvPr id="4" name="Card 75"/>
          <p:cNvSpPr/>
          <p:nvPr/>
        </p:nvSpPr>
        <p:spPr>
          <a:xfrm>
            <a:off x="457200" y="1188720"/>
            <a:ext cx="2560320" cy="1600200"/>
          </a:xfrm>
          <a:prstGeom prst="roundRect">
            <a:avLst>
              <a:gd name="adj" fmla="val 5714"/>
            </a:avLst>
          </a:prstGeom>
          <a:solidFill>
            <a:schemeClr val="bg2"/>
          </a:solidFill>
          <a:ln w="12700">
            <a:solidFill>
              <a:schemeClr val="bg2"/>
            </a:solidFill>
            <a:prstDash val="solid"/>
          </a:ln>
        </p:spPr>
      </p:sp>
      <p:sp>
        <p:nvSpPr>
          <p:cNvPr id="5" name="Icon circle 76"/>
          <p:cNvSpPr/>
          <p:nvPr/>
        </p:nvSpPr>
        <p:spPr>
          <a:xfrm>
            <a:off x="640080" y="1353312"/>
            <a:ext cx="457200" cy="457200"/>
          </a:xfrm>
          <a:prstGeom prst="ellipse">
            <a:avLst/>
          </a:prstGeom>
          <a:solidFill>
            <a:schemeClr val="accent1"/>
          </a:solidFill>
          <a:ln w="12700">
            <a:solidFill>
              <a:schemeClr val="accent1"/>
            </a:solidFill>
            <a:prstDash val="solid"/>
          </a:ln>
        </p:spPr>
      </p:sp>
      <p:pic>
        <p:nvPicPr>
          <p:cNvPr id="6" name="Icon 77" descr="icon">    </p:cNvPr>
          <p:cNvPicPr>
            <a:picLocks noChangeAspect="1"/>
          </p:cNvPicPr>
          <p:nvPr/>
        </p:nvPicPr>
        <p:blipFill>
          <a:blip r:embed="rId1"/>
          <a:stretch>
            <a:fillRect/>
          </a:stretch>
        </p:blipFill>
        <p:spPr>
          <a:xfrm>
            <a:off x="763524" y="1476756"/>
            <a:ext cx="210312" cy="210312"/>
          </a:xfrm>
          <a:prstGeom prst="rect">
            <a:avLst/>
          </a:prstGeom>
        </p:spPr>
      </p:pic>
      <p:sp>
        <p:nvSpPr>
          <p:cNvPr id="7" name="Text 78"/>
          <p:cNvSpPr txBox="1"/>
          <p:nvPr/>
        </p:nvSpPr>
        <p:spPr>
          <a:xfrm>
            <a:off x="640080" y="1920240"/>
            <a:ext cx="2240280" cy="274320"/>
          </a:xfrm>
          <a:prstGeom prst="rect">
            <a:avLst/>
          </a:prstGeom>
          <a:noFill/>
          <a:ln/>
        </p:spPr>
        <p:txBody>
          <a:bodyPr wrap="square" lIns="0" tIns="0" rIns="0" bIns="0" rtlCol="0" anchor="t"/>
          <a:lstStyle/>
          <a:p>
            <a:pPr indent="0" marL="0">
              <a:buNone/>
            </a:pPr>
            <a:r>
              <a:rPr lang="en-US" sz="1600" b="1" dirty="0">
                <a:solidFill>
                  <a:schemeClr val="tx2"/>
                </a:solidFill>
              </a:rPr>
              <a:t>Arrival forecasting</a:t>
            </a:r>
            <a:endParaRPr lang="en-US" sz="1600" dirty="0"/>
          </a:p>
        </p:txBody>
      </p:sp>
      <p:sp>
        <p:nvSpPr>
          <p:cNvPr id="8" name="Text 79"/>
          <p:cNvSpPr txBox="1"/>
          <p:nvPr/>
        </p:nvSpPr>
        <p:spPr>
          <a:xfrm>
            <a:off x="640080" y="2212848"/>
            <a:ext cx="2240280" cy="502920"/>
          </a:xfrm>
          <a:prstGeom prst="rect">
            <a:avLst/>
          </a:prstGeom>
          <a:noFill/>
          <a:ln/>
        </p:spPr>
        <p:txBody>
          <a:bodyPr wrap="square" lIns="0" tIns="0" rIns="0" bIns="0" rtlCol="0" anchor="t"/>
          <a:lstStyle/>
          <a:p>
            <a:pPr indent="0" marL="0">
              <a:buNone/>
            </a:pPr>
            <a:r>
              <a:rPr lang="en-US" sz="1400" dirty="0">
                <a:solidFill>
                  <a:schemeClr val="tx1"/>
                </a:solidFill>
              </a:rPr>
              <a:t>Predicts admissions from history and appointments</a:t>
            </a:r>
            <a:endParaRPr lang="en-US" sz="1400" dirty="0"/>
          </a:p>
        </p:txBody>
      </p:sp>
      <p:sp>
        <p:nvSpPr>
          <p:cNvPr id="9" name="Card 80"/>
          <p:cNvSpPr/>
          <p:nvPr/>
        </p:nvSpPr>
        <p:spPr>
          <a:xfrm>
            <a:off x="3291840" y="1188720"/>
            <a:ext cx="2560320" cy="1600200"/>
          </a:xfrm>
          <a:prstGeom prst="roundRect">
            <a:avLst>
              <a:gd name="adj" fmla="val 5714"/>
            </a:avLst>
          </a:prstGeom>
          <a:solidFill>
            <a:schemeClr val="bg2"/>
          </a:solidFill>
          <a:ln w="12700">
            <a:solidFill>
              <a:schemeClr val="bg2"/>
            </a:solidFill>
            <a:prstDash val="solid"/>
          </a:ln>
        </p:spPr>
      </p:sp>
      <p:sp>
        <p:nvSpPr>
          <p:cNvPr id="10" name="Icon circle 81"/>
          <p:cNvSpPr/>
          <p:nvPr/>
        </p:nvSpPr>
        <p:spPr>
          <a:xfrm>
            <a:off x="3474720" y="1353312"/>
            <a:ext cx="457200" cy="457200"/>
          </a:xfrm>
          <a:prstGeom prst="ellipse">
            <a:avLst/>
          </a:prstGeom>
          <a:solidFill>
            <a:schemeClr val="accent4"/>
          </a:solidFill>
          <a:ln w="12700">
            <a:solidFill>
              <a:schemeClr val="accent4"/>
            </a:solidFill>
            <a:prstDash val="solid"/>
          </a:ln>
        </p:spPr>
      </p:sp>
      <p:pic>
        <p:nvPicPr>
          <p:cNvPr id="11" name="Icon 82" descr="icon">    </p:cNvPr>
          <p:cNvPicPr>
            <a:picLocks noChangeAspect="1"/>
          </p:cNvPicPr>
          <p:nvPr/>
        </p:nvPicPr>
        <p:blipFill>
          <a:blip r:embed="rId2"/>
          <a:stretch>
            <a:fillRect/>
          </a:stretch>
        </p:blipFill>
        <p:spPr>
          <a:xfrm>
            <a:off x="3598164" y="1476756"/>
            <a:ext cx="210312" cy="210312"/>
          </a:xfrm>
          <a:prstGeom prst="rect">
            <a:avLst/>
          </a:prstGeom>
        </p:spPr>
      </p:pic>
      <p:sp>
        <p:nvSpPr>
          <p:cNvPr id="12" name="Text 83"/>
          <p:cNvSpPr txBox="1"/>
          <p:nvPr/>
        </p:nvSpPr>
        <p:spPr>
          <a:xfrm>
            <a:off x="3474720" y="1920240"/>
            <a:ext cx="2240280" cy="274320"/>
          </a:xfrm>
          <a:prstGeom prst="rect">
            <a:avLst/>
          </a:prstGeom>
          <a:noFill/>
          <a:ln/>
        </p:spPr>
        <p:txBody>
          <a:bodyPr wrap="square" lIns="0" tIns="0" rIns="0" bIns="0" rtlCol="0" anchor="t"/>
          <a:lstStyle/>
          <a:p>
            <a:pPr indent="0" marL="0">
              <a:buNone/>
            </a:pPr>
            <a:r>
              <a:rPr lang="en-US" sz="1600" b="1" dirty="0">
                <a:solidFill>
                  <a:schemeClr val="tx2"/>
                </a:solidFill>
              </a:rPr>
              <a:t>Bed management</a:t>
            </a:r>
            <a:endParaRPr lang="en-US" sz="1600" dirty="0"/>
          </a:p>
        </p:txBody>
      </p:sp>
      <p:sp>
        <p:nvSpPr>
          <p:cNvPr id="13" name="Text 84"/>
          <p:cNvSpPr txBox="1"/>
          <p:nvPr/>
        </p:nvSpPr>
        <p:spPr>
          <a:xfrm>
            <a:off x="3474720" y="2212848"/>
            <a:ext cx="2240280" cy="502920"/>
          </a:xfrm>
          <a:prstGeom prst="rect">
            <a:avLst/>
          </a:prstGeom>
          <a:noFill/>
          <a:ln/>
        </p:spPr>
        <p:txBody>
          <a:bodyPr wrap="square" lIns="0" tIns="0" rIns="0" bIns="0" rtlCol="0" anchor="t"/>
          <a:lstStyle/>
          <a:p>
            <a:pPr indent="0" marL="0">
              <a:buNone/>
            </a:pPr>
            <a:r>
              <a:rPr lang="en-US" sz="1400" dirty="0">
                <a:solidFill>
                  <a:schemeClr val="tx1"/>
                </a:solidFill>
              </a:rPr>
              <a:t>Dynamic matching of patients to suitable wards</a:t>
            </a:r>
            <a:endParaRPr lang="en-US" sz="1400" dirty="0"/>
          </a:p>
        </p:txBody>
      </p:sp>
      <p:sp>
        <p:nvSpPr>
          <p:cNvPr id="14" name="Card 85"/>
          <p:cNvSpPr/>
          <p:nvPr/>
        </p:nvSpPr>
        <p:spPr>
          <a:xfrm>
            <a:off x="6126480" y="1188720"/>
            <a:ext cx="2560320" cy="1600200"/>
          </a:xfrm>
          <a:prstGeom prst="roundRect">
            <a:avLst>
              <a:gd name="adj" fmla="val 5714"/>
            </a:avLst>
          </a:prstGeom>
          <a:solidFill>
            <a:schemeClr val="bg2"/>
          </a:solidFill>
          <a:ln w="12700">
            <a:solidFill>
              <a:schemeClr val="bg2"/>
            </a:solidFill>
            <a:prstDash val="solid"/>
          </a:ln>
        </p:spPr>
      </p:sp>
      <p:sp>
        <p:nvSpPr>
          <p:cNvPr id="15" name="Icon circle 86"/>
          <p:cNvSpPr/>
          <p:nvPr/>
        </p:nvSpPr>
        <p:spPr>
          <a:xfrm>
            <a:off x="6309360" y="1353312"/>
            <a:ext cx="457200" cy="457200"/>
          </a:xfrm>
          <a:prstGeom prst="ellipse">
            <a:avLst/>
          </a:prstGeom>
          <a:solidFill>
            <a:schemeClr val="accent2"/>
          </a:solidFill>
          <a:ln w="12700">
            <a:solidFill>
              <a:schemeClr val="accent2"/>
            </a:solidFill>
            <a:prstDash val="solid"/>
          </a:ln>
        </p:spPr>
      </p:sp>
      <p:pic>
        <p:nvPicPr>
          <p:cNvPr id="16" name="Icon 87" descr="icon">    </p:cNvPr>
          <p:cNvPicPr>
            <a:picLocks noChangeAspect="1"/>
          </p:cNvPicPr>
          <p:nvPr/>
        </p:nvPicPr>
        <p:blipFill>
          <a:blip r:embed="rId3"/>
          <a:stretch>
            <a:fillRect/>
          </a:stretch>
        </p:blipFill>
        <p:spPr>
          <a:xfrm>
            <a:off x="6432804" y="1476756"/>
            <a:ext cx="210312" cy="210312"/>
          </a:xfrm>
          <a:prstGeom prst="rect">
            <a:avLst/>
          </a:prstGeom>
        </p:spPr>
      </p:pic>
      <p:sp>
        <p:nvSpPr>
          <p:cNvPr id="17" name="Text 88"/>
          <p:cNvSpPr txBox="1"/>
          <p:nvPr/>
        </p:nvSpPr>
        <p:spPr>
          <a:xfrm>
            <a:off x="6309360" y="1920240"/>
            <a:ext cx="2240280" cy="274320"/>
          </a:xfrm>
          <a:prstGeom prst="rect">
            <a:avLst/>
          </a:prstGeom>
          <a:noFill/>
          <a:ln/>
        </p:spPr>
        <p:txBody>
          <a:bodyPr wrap="square" lIns="0" tIns="0" rIns="0" bIns="0" rtlCol="0" anchor="t"/>
          <a:lstStyle/>
          <a:p>
            <a:pPr indent="0" marL="0">
              <a:buNone/>
            </a:pPr>
            <a:r>
              <a:rPr lang="en-US" sz="1600" b="1" dirty="0">
                <a:solidFill>
                  <a:schemeClr val="tx2"/>
                </a:solidFill>
              </a:rPr>
              <a:t>Wait-time prediction</a:t>
            </a:r>
            <a:endParaRPr lang="en-US" sz="1600" dirty="0"/>
          </a:p>
        </p:txBody>
      </p:sp>
      <p:sp>
        <p:nvSpPr>
          <p:cNvPr id="18" name="Text 89"/>
          <p:cNvSpPr txBox="1"/>
          <p:nvPr/>
        </p:nvSpPr>
        <p:spPr>
          <a:xfrm>
            <a:off x="6309360" y="2212848"/>
            <a:ext cx="2240280" cy="502920"/>
          </a:xfrm>
          <a:prstGeom prst="rect">
            <a:avLst/>
          </a:prstGeom>
          <a:noFill/>
          <a:ln/>
        </p:spPr>
        <p:txBody>
          <a:bodyPr wrap="square" lIns="0" tIns="0" rIns="0" bIns="0" rtlCol="0" anchor="t"/>
          <a:lstStyle/>
          <a:p>
            <a:pPr indent="0" marL="0">
              <a:buNone/>
            </a:pPr>
            <a:r>
              <a:rPr lang="en-US" sz="1400" dirty="0">
                <a:solidFill>
                  <a:schemeClr val="tx1"/>
                </a:solidFill>
              </a:rPr>
              <a:t>Spots bottlenecks across departments</a:t>
            </a:r>
            <a:endParaRPr lang="en-US" sz="1400" dirty="0"/>
          </a:p>
        </p:txBody>
      </p:sp>
      <p:sp>
        <p:nvSpPr>
          <p:cNvPr id="19" name="Card 90"/>
          <p:cNvSpPr/>
          <p:nvPr/>
        </p:nvSpPr>
        <p:spPr>
          <a:xfrm>
            <a:off x="457200" y="2971800"/>
            <a:ext cx="2560320" cy="1600200"/>
          </a:xfrm>
          <a:prstGeom prst="roundRect">
            <a:avLst>
              <a:gd name="adj" fmla="val 5714"/>
            </a:avLst>
          </a:prstGeom>
          <a:solidFill>
            <a:schemeClr val="bg2"/>
          </a:solidFill>
          <a:ln w="12700">
            <a:solidFill>
              <a:schemeClr val="bg2"/>
            </a:solidFill>
            <a:prstDash val="solid"/>
          </a:ln>
        </p:spPr>
      </p:sp>
      <p:sp>
        <p:nvSpPr>
          <p:cNvPr id="20" name="Icon circle 91"/>
          <p:cNvSpPr/>
          <p:nvPr/>
        </p:nvSpPr>
        <p:spPr>
          <a:xfrm>
            <a:off x="640080" y="3136392"/>
            <a:ext cx="457200" cy="457200"/>
          </a:xfrm>
          <a:prstGeom prst="ellipse">
            <a:avLst/>
          </a:prstGeom>
          <a:solidFill>
            <a:schemeClr val="accent3"/>
          </a:solidFill>
          <a:ln w="12700">
            <a:solidFill>
              <a:schemeClr val="accent3"/>
            </a:solidFill>
            <a:prstDash val="solid"/>
          </a:ln>
        </p:spPr>
      </p:sp>
      <p:pic>
        <p:nvPicPr>
          <p:cNvPr id="21" name="Icon 92" descr="icon">    </p:cNvPr>
          <p:cNvPicPr>
            <a:picLocks noChangeAspect="1"/>
          </p:cNvPicPr>
          <p:nvPr/>
        </p:nvPicPr>
        <p:blipFill>
          <a:blip r:embed="rId4"/>
          <a:stretch>
            <a:fillRect/>
          </a:stretch>
        </p:blipFill>
        <p:spPr>
          <a:xfrm>
            <a:off x="763524" y="3259836"/>
            <a:ext cx="210312" cy="210312"/>
          </a:xfrm>
          <a:prstGeom prst="rect">
            <a:avLst/>
          </a:prstGeom>
        </p:spPr>
      </p:pic>
      <p:sp>
        <p:nvSpPr>
          <p:cNvPr id="22" name="Text 93"/>
          <p:cNvSpPr txBox="1"/>
          <p:nvPr/>
        </p:nvSpPr>
        <p:spPr>
          <a:xfrm>
            <a:off x="640080" y="3703320"/>
            <a:ext cx="2240280" cy="274320"/>
          </a:xfrm>
          <a:prstGeom prst="rect">
            <a:avLst/>
          </a:prstGeom>
          <a:noFill/>
          <a:ln/>
        </p:spPr>
        <p:txBody>
          <a:bodyPr wrap="square" lIns="0" tIns="0" rIns="0" bIns="0" rtlCol="0" anchor="t"/>
          <a:lstStyle/>
          <a:p>
            <a:pPr indent="0" marL="0">
              <a:buNone/>
            </a:pPr>
            <a:r>
              <a:rPr lang="en-US" sz="1600" b="1" dirty="0">
                <a:solidFill>
                  <a:schemeClr val="tx2"/>
                </a:solidFill>
              </a:rPr>
              <a:t>Utilization tracking</a:t>
            </a:r>
            <a:endParaRPr lang="en-US" sz="1600" dirty="0"/>
          </a:p>
        </p:txBody>
      </p:sp>
      <p:sp>
        <p:nvSpPr>
          <p:cNvPr id="23" name="Text 94"/>
          <p:cNvSpPr txBox="1"/>
          <p:nvPr/>
        </p:nvSpPr>
        <p:spPr>
          <a:xfrm>
            <a:off x="640080" y="3995928"/>
            <a:ext cx="2240280" cy="502920"/>
          </a:xfrm>
          <a:prstGeom prst="rect">
            <a:avLst/>
          </a:prstGeom>
          <a:noFill/>
          <a:ln/>
        </p:spPr>
        <p:txBody>
          <a:bodyPr wrap="square" lIns="0" tIns="0" rIns="0" bIns="0" rtlCol="0" anchor="t"/>
          <a:lstStyle/>
          <a:p>
            <a:pPr indent="0" marL="0">
              <a:buNone/>
            </a:pPr>
            <a:r>
              <a:rPr lang="en-US" sz="1400" dirty="0">
                <a:solidFill>
                  <a:schemeClr val="tx1"/>
                </a:solidFill>
              </a:rPr>
              <a:t>Staff, beds and diagnostic equipment</a:t>
            </a:r>
            <a:endParaRPr lang="en-US" sz="1400" dirty="0"/>
          </a:p>
        </p:txBody>
      </p:sp>
      <p:sp>
        <p:nvSpPr>
          <p:cNvPr id="24" name="Card 95"/>
          <p:cNvSpPr/>
          <p:nvPr/>
        </p:nvSpPr>
        <p:spPr>
          <a:xfrm>
            <a:off x="3291840" y="2971800"/>
            <a:ext cx="2560320" cy="1600200"/>
          </a:xfrm>
          <a:prstGeom prst="roundRect">
            <a:avLst>
              <a:gd name="adj" fmla="val 5714"/>
            </a:avLst>
          </a:prstGeom>
          <a:solidFill>
            <a:schemeClr val="bg2"/>
          </a:solidFill>
          <a:ln w="12700">
            <a:solidFill>
              <a:schemeClr val="bg2"/>
            </a:solidFill>
            <a:prstDash val="solid"/>
          </a:ln>
        </p:spPr>
      </p:sp>
      <p:sp>
        <p:nvSpPr>
          <p:cNvPr id="25" name="Icon circle 96"/>
          <p:cNvSpPr/>
          <p:nvPr/>
        </p:nvSpPr>
        <p:spPr>
          <a:xfrm>
            <a:off x="3474720" y="3136392"/>
            <a:ext cx="457200" cy="457200"/>
          </a:xfrm>
          <a:prstGeom prst="ellipse">
            <a:avLst/>
          </a:prstGeom>
          <a:solidFill>
            <a:schemeClr val="accent1"/>
          </a:solidFill>
          <a:ln w="12700">
            <a:solidFill>
              <a:schemeClr val="accent1"/>
            </a:solidFill>
            <a:prstDash val="solid"/>
          </a:ln>
        </p:spPr>
      </p:sp>
      <p:pic>
        <p:nvPicPr>
          <p:cNvPr id="26" name="Icon 97" descr="icon">    </p:cNvPr>
          <p:cNvPicPr>
            <a:picLocks noChangeAspect="1"/>
          </p:cNvPicPr>
          <p:nvPr/>
        </p:nvPicPr>
        <p:blipFill>
          <a:blip r:embed="rId5"/>
          <a:stretch>
            <a:fillRect/>
          </a:stretch>
        </p:blipFill>
        <p:spPr>
          <a:xfrm>
            <a:off x="3598164" y="3259836"/>
            <a:ext cx="210312" cy="210312"/>
          </a:xfrm>
          <a:prstGeom prst="rect">
            <a:avLst/>
          </a:prstGeom>
        </p:spPr>
      </p:pic>
      <p:sp>
        <p:nvSpPr>
          <p:cNvPr id="27" name="Text 98"/>
          <p:cNvSpPr txBox="1"/>
          <p:nvPr/>
        </p:nvSpPr>
        <p:spPr>
          <a:xfrm>
            <a:off x="3474720" y="3703320"/>
            <a:ext cx="2240280" cy="274320"/>
          </a:xfrm>
          <a:prstGeom prst="rect">
            <a:avLst/>
          </a:prstGeom>
          <a:noFill/>
          <a:ln/>
        </p:spPr>
        <p:txBody>
          <a:bodyPr wrap="square" lIns="0" tIns="0" rIns="0" bIns="0" rtlCol="0" anchor="t"/>
          <a:lstStyle/>
          <a:p>
            <a:pPr indent="0" marL="0">
              <a:buNone/>
            </a:pPr>
            <a:r>
              <a:rPr lang="en-US" sz="1600" b="1" dirty="0">
                <a:solidFill>
                  <a:schemeClr val="tx2"/>
                </a:solidFill>
              </a:rPr>
              <a:t>Capacity reallocation</a:t>
            </a:r>
            <a:endParaRPr lang="en-US" sz="1600" dirty="0"/>
          </a:p>
        </p:txBody>
      </p:sp>
      <p:sp>
        <p:nvSpPr>
          <p:cNvPr id="28" name="Text 99"/>
          <p:cNvSpPr txBox="1"/>
          <p:nvPr/>
        </p:nvSpPr>
        <p:spPr>
          <a:xfrm>
            <a:off x="3474720" y="3995928"/>
            <a:ext cx="2240280" cy="502920"/>
          </a:xfrm>
          <a:prstGeom prst="rect">
            <a:avLst/>
          </a:prstGeom>
          <a:noFill/>
          <a:ln/>
        </p:spPr>
        <p:txBody>
          <a:bodyPr wrap="square" lIns="0" tIns="0" rIns="0" bIns="0" rtlCol="0" anchor="t"/>
          <a:lstStyle/>
          <a:p>
            <a:pPr indent="0" marL="0">
              <a:buNone/>
            </a:pPr>
            <a:r>
              <a:rPr lang="en-US" sz="1400" dirty="0">
                <a:solidFill>
                  <a:schemeClr val="tx1"/>
                </a:solidFill>
              </a:rPr>
              <a:t>Alerts that respect clinical priority</a:t>
            </a:r>
            <a:endParaRPr lang="en-US" sz="1400" dirty="0"/>
          </a:p>
        </p:txBody>
      </p:sp>
      <p:sp>
        <p:nvSpPr>
          <p:cNvPr id="29" name="Card 100"/>
          <p:cNvSpPr/>
          <p:nvPr/>
        </p:nvSpPr>
        <p:spPr>
          <a:xfrm>
            <a:off x="6126480" y="2971800"/>
            <a:ext cx="2560320" cy="1600200"/>
          </a:xfrm>
          <a:prstGeom prst="roundRect">
            <a:avLst>
              <a:gd name="adj" fmla="val 5714"/>
            </a:avLst>
          </a:prstGeom>
          <a:solidFill>
            <a:schemeClr val="bg2"/>
          </a:solidFill>
          <a:ln w="12700">
            <a:solidFill>
              <a:schemeClr val="bg2"/>
            </a:solidFill>
            <a:prstDash val="solid"/>
          </a:ln>
        </p:spPr>
      </p:sp>
      <p:sp>
        <p:nvSpPr>
          <p:cNvPr id="30" name="Icon circle 101"/>
          <p:cNvSpPr/>
          <p:nvPr/>
        </p:nvSpPr>
        <p:spPr>
          <a:xfrm>
            <a:off x="6309360" y="3136392"/>
            <a:ext cx="457200" cy="457200"/>
          </a:xfrm>
          <a:prstGeom prst="ellipse">
            <a:avLst/>
          </a:prstGeom>
          <a:solidFill>
            <a:schemeClr val="accent4"/>
          </a:solidFill>
          <a:ln w="12700">
            <a:solidFill>
              <a:schemeClr val="accent4"/>
            </a:solidFill>
            <a:prstDash val="solid"/>
          </a:ln>
        </p:spPr>
      </p:sp>
      <p:pic>
        <p:nvPicPr>
          <p:cNvPr id="31" name="Icon 102" descr="icon">    </p:cNvPr>
          <p:cNvPicPr>
            <a:picLocks noChangeAspect="1"/>
          </p:cNvPicPr>
          <p:nvPr/>
        </p:nvPicPr>
        <p:blipFill>
          <a:blip r:embed="rId6"/>
          <a:stretch>
            <a:fillRect/>
          </a:stretch>
        </p:blipFill>
        <p:spPr>
          <a:xfrm>
            <a:off x="6432804" y="3259836"/>
            <a:ext cx="210312" cy="210312"/>
          </a:xfrm>
          <a:prstGeom prst="rect">
            <a:avLst/>
          </a:prstGeom>
        </p:spPr>
      </p:pic>
      <p:sp>
        <p:nvSpPr>
          <p:cNvPr id="32" name="Text 103"/>
          <p:cNvSpPr txBox="1"/>
          <p:nvPr/>
        </p:nvSpPr>
        <p:spPr>
          <a:xfrm>
            <a:off x="6309360" y="3703320"/>
            <a:ext cx="2240280" cy="274320"/>
          </a:xfrm>
          <a:prstGeom prst="rect">
            <a:avLst/>
          </a:prstGeom>
          <a:noFill/>
          <a:ln/>
        </p:spPr>
        <p:txBody>
          <a:bodyPr wrap="square" lIns="0" tIns="0" rIns="0" bIns="0" rtlCol="0" anchor="t"/>
          <a:lstStyle/>
          <a:p>
            <a:pPr indent="0" marL="0">
              <a:buNone/>
            </a:pPr>
            <a:r>
              <a:rPr lang="en-US" sz="1600" b="1" dirty="0">
                <a:solidFill>
                  <a:schemeClr val="tx2"/>
                </a:solidFill>
              </a:rPr>
              <a:t>Operations dashboard</a:t>
            </a:r>
            <a:endParaRPr lang="en-US" sz="1600" dirty="0"/>
          </a:p>
        </p:txBody>
      </p:sp>
      <p:sp>
        <p:nvSpPr>
          <p:cNvPr id="33" name="Text 104"/>
          <p:cNvSpPr txBox="1"/>
          <p:nvPr/>
        </p:nvSpPr>
        <p:spPr>
          <a:xfrm>
            <a:off x="6309360" y="3995928"/>
            <a:ext cx="2240280" cy="502920"/>
          </a:xfrm>
          <a:prstGeom prst="rect">
            <a:avLst/>
          </a:prstGeom>
          <a:noFill/>
          <a:ln/>
        </p:spPr>
        <p:txBody>
          <a:bodyPr wrap="square" lIns="0" tIns="0" rIns="0" bIns="0" rtlCol="0" anchor="t"/>
          <a:lstStyle/>
          <a:p>
            <a:pPr indent="0" marL="0">
              <a:buNone/>
            </a:pPr>
            <a:r>
              <a:rPr lang="en-US" sz="1400" dirty="0">
                <a:solidFill>
                  <a:schemeClr val="tx1"/>
                </a:solidFill>
              </a:rPr>
              <a:t>Patient flow, queues and predicted demand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System architecture</a:t>
            </a:r>
            <a:endParaRPr lang="en-US" sz="3200" dirty="0"/>
          </a:p>
        </p:txBody>
      </p:sp>
      <p:sp>
        <p:nvSpPr>
          <p:cNvPr id="4" name="Column header 105"/>
          <p:cNvSpPr/>
          <p:nvPr/>
        </p:nvSpPr>
        <p:spPr>
          <a:xfrm>
            <a:off x="457200" y="1280160"/>
            <a:ext cx="1828800" cy="502920"/>
          </a:xfrm>
          <a:prstGeom prst="roundRect">
            <a:avLst>
              <a:gd name="adj" fmla="val 18182"/>
            </a:avLst>
          </a:prstGeom>
          <a:solidFill>
            <a:schemeClr val="tx2"/>
          </a:solidFill>
          <a:ln w="12700">
            <a:solidFill>
              <a:schemeClr val="tx2"/>
            </a:solidFill>
            <a:prstDash val="solid"/>
          </a:ln>
        </p:spPr>
      </p:sp>
      <p:sp>
        <p:nvSpPr>
          <p:cNvPr id="5" name="Text 106"/>
          <p:cNvSpPr txBox="1"/>
          <p:nvPr/>
        </p:nvSpPr>
        <p:spPr>
          <a:xfrm>
            <a:off x="457200" y="1280160"/>
            <a:ext cx="1828800" cy="502920"/>
          </a:xfrm>
          <a:prstGeom prst="rect">
            <a:avLst/>
          </a:prstGeom>
          <a:noFill/>
          <a:ln/>
        </p:spPr>
        <p:txBody>
          <a:bodyPr wrap="square" lIns="0" tIns="0" rIns="0" bIns="0" rtlCol="0" anchor="ctr"/>
          <a:lstStyle/>
          <a:p>
            <a:pPr algn="ctr" indent="0" marL="0">
              <a:buNone/>
            </a:pPr>
            <a:r>
              <a:rPr lang="en-US" sz="1600" b="1" dirty="0">
                <a:solidFill>
                  <a:schemeClr val="bg1"/>
                </a:solidFill>
              </a:rPr>
              <a:t>Data sources</a:t>
            </a:r>
            <a:endParaRPr lang="en-US" sz="1600" dirty="0"/>
          </a:p>
        </p:txBody>
      </p:sp>
      <p:sp>
        <p:nvSpPr>
          <p:cNvPr id="6" name="Card 107"/>
          <p:cNvSpPr/>
          <p:nvPr/>
        </p:nvSpPr>
        <p:spPr>
          <a:xfrm>
            <a:off x="457200" y="1874520"/>
            <a:ext cx="1828800" cy="2103120"/>
          </a:xfrm>
          <a:prstGeom prst="roundRect">
            <a:avLst>
              <a:gd name="adj" fmla="val 5000"/>
            </a:avLst>
          </a:prstGeom>
          <a:solidFill>
            <a:schemeClr val="bg2"/>
          </a:solidFill>
          <a:ln w="12700">
            <a:solidFill>
              <a:schemeClr val="bg2"/>
            </a:solidFill>
            <a:prstDash val="solid"/>
          </a:ln>
        </p:spPr>
      </p:sp>
      <p:sp>
        <p:nvSpPr>
          <p:cNvPr id="7" name="Text 108"/>
          <p:cNvSpPr txBox="1"/>
          <p:nvPr/>
        </p:nvSpPr>
        <p:spPr>
          <a:xfrm>
            <a:off x="640080" y="2057400"/>
            <a:ext cx="155448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EMR / ADT feed</a:t>
            </a:r>
            <a:endParaRPr lang="en-US" sz="1400" dirty="0"/>
          </a:p>
          <a:p>
            <a:pPr marL="342900" indent="-342900">
              <a:spcAft>
                <a:spcPts val="1200"/>
              </a:spcAft>
              <a:buSzPct val="100000"/>
              <a:buChar char="•"/>
            </a:pPr>
            <a:r>
              <a:rPr lang="en-US" sz="1400" dirty="0">
                <a:solidFill>
                  <a:schemeClr val="tx1"/>
                </a:solidFill>
              </a:rPr>
              <a:t>Appointments</a:t>
            </a:r>
            <a:endParaRPr lang="en-US" sz="1400" dirty="0"/>
          </a:p>
          <a:p>
            <a:pPr marL="342900" indent="-342900">
              <a:spcAft>
                <a:spcPts val="1200"/>
              </a:spcAft>
              <a:buSzPct val="100000"/>
              <a:buChar char="•"/>
            </a:pPr>
            <a:r>
              <a:rPr lang="en-US" sz="1400" dirty="0">
                <a:solidFill>
                  <a:schemeClr val="tx1"/>
                </a:solidFill>
              </a:rPr>
              <a:t>Staff rosters</a:t>
            </a:r>
            <a:endParaRPr lang="en-US" sz="1400" dirty="0"/>
          </a:p>
          <a:p>
            <a:pPr marL="342900" indent="-342900">
              <a:spcAft>
                <a:spcPts val="1200"/>
              </a:spcAft>
              <a:buSzPct val="100000"/>
              <a:buChar char="•"/>
            </a:pPr>
            <a:r>
              <a:rPr lang="en-US" sz="1400" dirty="0">
                <a:solidFill>
                  <a:schemeClr val="tx1"/>
                </a:solidFill>
              </a:rPr>
              <a:t>Equipment feed</a:t>
            </a:r>
            <a:endParaRPr lang="en-US" sz="1400" dirty="0"/>
          </a:p>
        </p:txBody>
      </p:sp>
      <p:pic>
        <p:nvPicPr>
          <p:cNvPr id="8" name="Arrow 109" descr="next">    </p:cNvPr>
          <p:cNvPicPr>
            <a:picLocks noChangeAspect="1"/>
          </p:cNvPicPr>
          <p:nvPr/>
        </p:nvPicPr>
        <p:blipFill>
          <a:blip r:embed="rId1"/>
          <a:stretch>
            <a:fillRect/>
          </a:stretch>
        </p:blipFill>
        <p:spPr>
          <a:xfrm>
            <a:off x="2322576" y="2697480"/>
            <a:ext cx="228600" cy="228600"/>
          </a:xfrm>
          <a:prstGeom prst="rect">
            <a:avLst/>
          </a:prstGeom>
        </p:spPr>
      </p:pic>
      <p:sp>
        <p:nvSpPr>
          <p:cNvPr id="9" name="Column header 110"/>
          <p:cNvSpPr/>
          <p:nvPr/>
        </p:nvSpPr>
        <p:spPr>
          <a:xfrm>
            <a:off x="2587752" y="1280160"/>
            <a:ext cx="1828800" cy="502920"/>
          </a:xfrm>
          <a:prstGeom prst="roundRect">
            <a:avLst>
              <a:gd name="adj" fmla="val 18182"/>
            </a:avLst>
          </a:prstGeom>
          <a:solidFill>
            <a:schemeClr val="tx2"/>
          </a:solidFill>
          <a:ln w="12700">
            <a:solidFill>
              <a:schemeClr val="tx2"/>
            </a:solidFill>
            <a:prstDash val="solid"/>
          </a:ln>
        </p:spPr>
      </p:sp>
      <p:sp>
        <p:nvSpPr>
          <p:cNvPr id="10" name="Text 111"/>
          <p:cNvSpPr txBox="1"/>
          <p:nvPr/>
        </p:nvSpPr>
        <p:spPr>
          <a:xfrm>
            <a:off x="2587752" y="1280160"/>
            <a:ext cx="1828800" cy="502920"/>
          </a:xfrm>
          <a:prstGeom prst="rect">
            <a:avLst/>
          </a:prstGeom>
          <a:noFill/>
          <a:ln/>
        </p:spPr>
        <p:txBody>
          <a:bodyPr wrap="square" lIns="0" tIns="0" rIns="0" bIns="0" rtlCol="0" anchor="ctr"/>
          <a:lstStyle/>
          <a:p>
            <a:pPr algn="ctr" indent="0" marL="0">
              <a:buNone/>
            </a:pPr>
            <a:r>
              <a:rPr lang="en-US" sz="1600" b="1" dirty="0">
                <a:solidFill>
                  <a:schemeClr val="bg1"/>
                </a:solidFill>
              </a:rPr>
              <a:t>Data layer</a:t>
            </a:r>
            <a:endParaRPr lang="en-US" sz="1600" dirty="0"/>
          </a:p>
        </p:txBody>
      </p:sp>
      <p:sp>
        <p:nvSpPr>
          <p:cNvPr id="11" name="Card 112"/>
          <p:cNvSpPr/>
          <p:nvPr/>
        </p:nvSpPr>
        <p:spPr>
          <a:xfrm>
            <a:off x="2587752" y="1874520"/>
            <a:ext cx="1828800" cy="2103120"/>
          </a:xfrm>
          <a:prstGeom prst="roundRect">
            <a:avLst>
              <a:gd name="adj" fmla="val 5000"/>
            </a:avLst>
          </a:prstGeom>
          <a:solidFill>
            <a:schemeClr val="bg2"/>
          </a:solidFill>
          <a:ln w="12700">
            <a:solidFill>
              <a:schemeClr val="bg2"/>
            </a:solidFill>
            <a:prstDash val="solid"/>
          </a:ln>
        </p:spPr>
      </p:sp>
      <p:sp>
        <p:nvSpPr>
          <p:cNvPr id="12" name="Text 113"/>
          <p:cNvSpPr txBox="1"/>
          <p:nvPr/>
        </p:nvSpPr>
        <p:spPr>
          <a:xfrm>
            <a:off x="2770632" y="2057400"/>
            <a:ext cx="155448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Ingestion, cleaning</a:t>
            </a:r>
            <a:endParaRPr lang="en-US" sz="1400" dirty="0"/>
          </a:p>
          <a:p>
            <a:pPr marL="342900" indent="-342900">
              <a:spcAft>
                <a:spcPts val="1200"/>
              </a:spcAft>
              <a:buSzPct val="100000"/>
              <a:buChar char="•"/>
            </a:pPr>
            <a:r>
              <a:rPr lang="en-US" sz="1400" dirty="0">
                <a:solidFill>
                  <a:schemeClr val="tx1"/>
                </a:solidFill>
              </a:rPr>
              <a:t>Feature store</a:t>
            </a:r>
            <a:endParaRPr lang="en-US" sz="1400" dirty="0"/>
          </a:p>
          <a:p>
            <a:pPr marL="342900" indent="-342900">
              <a:spcAft>
                <a:spcPts val="1200"/>
              </a:spcAft>
              <a:buSzPct val="100000"/>
              <a:buChar char="•"/>
            </a:pPr>
            <a:r>
              <a:rPr lang="en-US" sz="1400" dirty="0">
                <a:solidFill>
                  <a:schemeClr val="tx1"/>
                </a:solidFill>
              </a:rPr>
              <a:t>Event stream</a:t>
            </a:r>
            <a:endParaRPr lang="en-US" sz="1400" dirty="0"/>
          </a:p>
          <a:p>
            <a:pPr marL="342900" indent="-342900">
              <a:spcAft>
                <a:spcPts val="1200"/>
              </a:spcAft>
              <a:buSzPct val="100000"/>
              <a:buChar char="•"/>
            </a:pPr>
            <a:r>
              <a:rPr lang="en-US" sz="1400" dirty="0">
                <a:solidFill>
                  <a:schemeClr val="tx1"/>
                </a:solidFill>
              </a:rPr>
              <a:t>Synthetic data</a:t>
            </a:r>
            <a:endParaRPr lang="en-US" sz="1400" dirty="0"/>
          </a:p>
        </p:txBody>
      </p:sp>
      <p:pic>
        <p:nvPicPr>
          <p:cNvPr id="13" name="Arrow 114" descr="next">    </p:cNvPr>
          <p:cNvPicPr>
            <a:picLocks noChangeAspect="1"/>
          </p:cNvPicPr>
          <p:nvPr/>
        </p:nvPicPr>
        <p:blipFill>
          <a:blip r:embed="rId2"/>
          <a:stretch>
            <a:fillRect/>
          </a:stretch>
        </p:blipFill>
        <p:spPr>
          <a:xfrm>
            <a:off x="4453128" y="2697480"/>
            <a:ext cx="228600" cy="228600"/>
          </a:xfrm>
          <a:prstGeom prst="rect">
            <a:avLst/>
          </a:prstGeom>
        </p:spPr>
      </p:pic>
      <p:sp>
        <p:nvSpPr>
          <p:cNvPr id="14" name="Column header 115"/>
          <p:cNvSpPr/>
          <p:nvPr/>
        </p:nvSpPr>
        <p:spPr>
          <a:xfrm>
            <a:off x="4718304" y="1280160"/>
            <a:ext cx="1828800" cy="502920"/>
          </a:xfrm>
          <a:prstGeom prst="roundRect">
            <a:avLst>
              <a:gd name="adj" fmla="val 18182"/>
            </a:avLst>
          </a:prstGeom>
          <a:solidFill>
            <a:schemeClr val="accent1"/>
          </a:solidFill>
          <a:ln w="12700">
            <a:solidFill>
              <a:schemeClr val="tx2"/>
            </a:solidFill>
            <a:prstDash val="solid"/>
          </a:ln>
        </p:spPr>
      </p:sp>
      <p:sp>
        <p:nvSpPr>
          <p:cNvPr id="15" name="Text 116"/>
          <p:cNvSpPr txBox="1"/>
          <p:nvPr/>
        </p:nvSpPr>
        <p:spPr>
          <a:xfrm>
            <a:off x="4718304" y="1280160"/>
            <a:ext cx="1828800" cy="502920"/>
          </a:xfrm>
          <a:prstGeom prst="rect">
            <a:avLst/>
          </a:prstGeom>
          <a:noFill/>
          <a:ln/>
        </p:spPr>
        <p:txBody>
          <a:bodyPr wrap="square" lIns="0" tIns="0" rIns="0" bIns="0" rtlCol="0" anchor="ctr"/>
          <a:lstStyle/>
          <a:p>
            <a:pPr algn="ctr" indent="0" marL="0">
              <a:buNone/>
            </a:pPr>
            <a:r>
              <a:rPr lang="en-US" sz="1600" b="1" dirty="0">
                <a:solidFill>
                  <a:schemeClr val="bg1"/>
                </a:solidFill>
              </a:rPr>
              <a:t>Intelligence</a:t>
            </a:r>
            <a:endParaRPr lang="en-US" sz="1600" dirty="0"/>
          </a:p>
        </p:txBody>
      </p:sp>
      <p:sp>
        <p:nvSpPr>
          <p:cNvPr id="16" name="Card 117"/>
          <p:cNvSpPr/>
          <p:nvPr/>
        </p:nvSpPr>
        <p:spPr>
          <a:xfrm>
            <a:off x="4718304" y="1874520"/>
            <a:ext cx="1828800" cy="2103120"/>
          </a:xfrm>
          <a:prstGeom prst="roundRect">
            <a:avLst>
              <a:gd name="adj" fmla="val 5000"/>
            </a:avLst>
          </a:prstGeom>
          <a:solidFill>
            <a:schemeClr val="bg2"/>
          </a:solidFill>
          <a:ln w="12700">
            <a:solidFill>
              <a:schemeClr val="bg2"/>
            </a:solidFill>
            <a:prstDash val="solid"/>
          </a:ln>
        </p:spPr>
      </p:sp>
      <p:sp>
        <p:nvSpPr>
          <p:cNvPr id="17" name="Text 118"/>
          <p:cNvSpPr txBox="1"/>
          <p:nvPr/>
        </p:nvSpPr>
        <p:spPr>
          <a:xfrm>
            <a:off x="4901184" y="2057400"/>
            <a:ext cx="155448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Arrival forecast</a:t>
            </a:r>
            <a:endParaRPr lang="en-US" sz="1400" dirty="0"/>
          </a:p>
          <a:p>
            <a:pPr marL="342900" indent="-342900">
              <a:spcAft>
                <a:spcPts val="1200"/>
              </a:spcAft>
              <a:buSzPct val="100000"/>
              <a:buChar char="•"/>
            </a:pPr>
            <a:r>
              <a:rPr lang="en-US" sz="1400" dirty="0">
                <a:solidFill>
                  <a:schemeClr val="tx1"/>
                </a:solidFill>
              </a:rPr>
              <a:t>Wait-time model</a:t>
            </a:r>
            <a:endParaRPr lang="en-US" sz="1400" dirty="0"/>
          </a:p>
          <a:p>
            <a:pPr marL="342900" indent="-342900">
              <a:spcAft>
                <a:spcPts val="1200"/>
              </a:spcAft>
              <a:buSzPct val="100000"/>
              <a:buChar char="•"/>
            </a:pPr>
            <a:r>
              <a:rPr lang="en-US" sz="1400" dirty="0">
                <a:solidFill>
                  <a:schemeClr val="tx1"/>
                </a:solidFill>
              </a:rPr>
              <a:t>Bed matcher</a:t>
            </a:r>
            <a:endParaRPr lang="en-US" sz="1400" dirty="0"/>
          </a:p>
          <a:p>
            <a:pPr marL="342900" indent="-342900">
              <a:spcAft>
                <a:spcPts val="1200"/>
              </a:spcAft>
              <a:buSzPct val="100000"/>
              <a:buChar char="•"/>
            </a:pPr>
            <a:r>
              <a:rPr lang="en-US" sz="1400" dirty="0">
                <a:solidFill>
                  <a:schemeClr val="tx1"/>
                </a:solidFill>
              </a:rPr>
              <a:t>Bottleneck alerts</a:t>
            </a:r>
            <a:endParaRPr lang="en-US" sz="1400" dirty="0"/>
          </a:p>
        </p:txBody>
      </p:sp>
      <p:pic>
        <p:nvPicPr>
          <p:cNvPr id="18" name="Arrow 119" descr="next">    </p:cNvPr>
          <p:cNvPicPr>
            <a:picLocks noChangeAspect="1"/>
          </p:cNvPicPr>
          <p:nvPr/>
        </p:nvPicPr>
        <p:blipFill>
          <a:blip r:embed="rId3"/>
          <a:stretch>
            <a:fillRect/>
          </a:stretch>
        </p:blipFill>
        <p:spPr>
          <a:xfrm>
            <a:off x="6583680" y="2697480"/>
            <a:ext cx="228600" cy="228600"/>
          </a:xfrm>
          <a:prstGeom prst="rect">
            <a:avLst/>
          </a:prstGeom>
        </p:spPr>
      </p:pic>
      <p:sp>
        <p:nvSpPr>
          <p:cNvPr id="19" name="Column header 120"/>
          <p:cNvSpPr/>
          <p:nvPr/>
        </p:nvSpPr>
        <p:spPr>
          <a:xfrm>
            <a:off x="6848856" y="1280160"/>
            <a:ext cx="1828800" cy="502920"/>
          </a:xfrm>
          <a:prstGeom prst="roundRect">
            <a:avLst>
              <a:gd name="adj" fmla="val 18182"/>
            </a:avLst>
          </a:prstGeom>
          <a:solidFill>
            <a:schemeClr val="tx2"/>
          </a:solidFill>
          <a:ln w="12700">
            <a:solidFill>
              <a:schemeClr val="tx2"/>
            </a:solidFill>
            <a:prstDash val="solid"/>
          </a:ln>
        </p:spPr>
      </p:sp>
      <p:sp>
        <p:nvSpPr>
          <p:cNvPr id="20" name="Text 121"/>
          <p:cNvSpPr txBox="1"/>
          <p:nvPr/>
        </p:nvSpPr>
        <p:spPr>
          <a:xfrm>
            <a:off x="6848856" y="1280160"/>
            <a:ext cx="1828800" cy="502920"/>
          </a:xfrm>
          <a:prstGeom prst="rect">
            <a:avLst/>
          </a:prstGeom>
          <a:noFill/>
          <a:ln/>
        </p:spPr>
        <p:txBody>
          <a:bodyPr wrap="square" lIns="0" tIns="0" rIns="0" bIns="0" rtlCol="0" anchor="ctr"/>
          <a:lstStyle/>
          <a:p>
            <a:pPr algn="ctr" indent="0" marL="0">
              <a:buNone/>
            </a:pPr>
            <a:r>
              <a:rPr lang="en-US" sz="1600" b="1" dirty="0">
                <a:solidFill>
                  <a:schemeClr val="bg1"/>
                </a:solidFill>
              </a:rPr>
              <a:t>Application</a:t>
            </a:r>
            <a:endParaRPr lang="en-US" sz="1600" dirty="0"/>
          </a:p>
        </p:txBody>
      </p:sp>
      <p:sp>
        <p:nvSpPr>
          <p:cNvPr id="21" name="Card 122"/>
          <p:cNvSpPr/>
          <p:nvPr/>
        </p:nvSpPr>
        <p:spPr>
          <a:xfrm>
            <a:off x="6848856" y="1874520"/>
            <a:ext cx="1828800" cy="2103120"/>
          </a:xfrm>
          <a:prstGeom prst="roundRect">
            <a:avLst>
              <a:gd name="adj" fmla="val 5000"/>
            </a:avLst>
          </a:prstGeom>
          <a:solidFill>
            <a:schemeClr val="bg2"/>
          </a:solidFill>
          <a:ln w="12700">
            <a:solidFill>
              <a:schemeClr val="bg2"/>
            </a:solidFill>
            <a:prstDash val="solid"/>
          </a:ln>
        </p:spPr>
      </p:sp>
      <p:sp>
        <p:nvSpPr>
          <p:cNvPr id="22" name="Text 123"/>
          <p:cNvSpPr txBox="1"/>
          <p:nvPr/>
        </p:nvSpPr>
        <p:spPr>
          <a:xfrm>
            <a:off x="7031736" y="2057400"/>
            <a:ext cx="155448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REST API</a:t>
            </a:r>
            <a:endParaRPr lang="en-US" sz="1400" dirty="0"/>
          </a:p>
          <a:p>
            <a:pPr marL="342900" indent="-342900">
              <a:spcAft>
                <a:spcPts val="1200"/>
              </a:spcAft>
              <a:buSzPct val="100000"/>
              <a:buChar char="•"/>
            </a:pPr>
            <a:r>
              <a:rPr lang="en-US" sz="1400" dirty="0">
                <a:solidFill>
                  <a:schemeClr val="tx1"/>
                </a:solidFill>
              </a:rPr>
              <a:t>Alert engine</a:t>
            </a:r>
            <a:endParaRPr lang="en-US" sz="1400" dirty="0"/>
          </a:p>
          <a:p>
            <a:pPr marL="342900" indent="-342900">
              <a:spcAft>
                <a:spcPts val="1200"/>
              </a:spcAft>
              <a:buSzPct val="100000"/>
              <a:buChar char="•"/>
            </a:pPr>
            <a:r>
              <a:rPr lang="en-US" sz="1400" dirty="0">
                <a:solidFill>
                  <a:schemeClr val="tx1"/>
                </a:solidFill>
              </a:rPr>
              <a:t>Live dashboard</a:t>
            </a:r>
            <a:endParaRPr lang="en-US" sz="1400" dirty="0"/>
          </a:p>
          <a:p>
            <a:pPr marL="342900" indent="-342900">
              <a:spcAft>
                <a:spcPts val="1200"/>
              </a:spcAft>
              <a:buSzPct val="100000"/>
              <a:buChar char="•"/>
            </a:pPr>
            <a:r>
              <a:rPr lang="en-US" sz="1400" dirty="0">
                <a:solidFill>
                  <a:schemeClr val="tx1"/>
                </a:solidFill>
              </a:rPr>
              <a:t>Approval workflow</a:t>
            </a:r>
            <a:endParaRPr lang="en-US" sz="1400" dirty="0"/>
          </a:p>
        </p:txBody>
      </p:sp>
      <p:sp>
        <p:nvSpPr>
          <p:cNvPr id="23" name="Card 124"/>
          <p:cNvSpPr/>
          <p:nvPr/>
        </p:nvSpPr>
        <p:spPr>
          <a:xfrm>
            <a:off x="457200" y="4160520"/>
            <a:ext cx="8229600" cy="502920"/>
          </a:xfrm>
          <a:prstGeom prst="roundRect">
            <a:avLst>
              <a:gd name="adj" fmla="val 18182"/>
            </a:avLst>
          </a:prstGeom>
          <a:solidFill>
            <a:schemeClr val="tx2"/>
          </a:solidFill>
          <a:ln w="12700">
            <a:solidFill>
              <a:schemeClr val="tx2"/>
            </a:solidFill>
            <a:prstDash val="solid"/>
          </a:ln>
        </p:spPr>
      </p:sp>
      <p:sp>
        <p:nvSpPr>
          <p:cNvPr id="24" name="Icon circle 125"/>
          <p:cNvSpPr/>
          <p:nvPr/>
        </p:nvSpPr>
        <p:spPr>
          <a:xfrm>
            <a:off x="594360" y="4224528"/>
            <a:ext cx="365760" cy="365760"/>
          </a:xfrm>
          <a:prstGeom prst="ellipse">
            <a:avLst/>
          </a:prstGeom>
          <a:solidFill>
            <a:schemeClr val="accent1"/>
          </a:solidFill>
          <a:ln w="12700">
            <a:solidFill>
              <a:schemeClr val="accent1"/>
            </a:solidFill>
            <a:prstDash val="solid"/>
          </a:ln>
        </p:spPr>
      </p:sp>
      <p:pic>
        <p:nvPicPr>
          <p:cNvPr id="25" name="Icon 126" descr="icon">    </p:cNvPr>
          <p:cNvPicPr>
            <a:picLocks noChangeAspect="1"/>
          </p:cNvPicPr>
          <p:nvPr/>
        </p:nvPicPr>
        <p:blipFill>
          <a:blip r:embed="rId4"/>
          <a:stretch>
            <a:fillRect/>
          </a:stretch>
        </p:blipFill>
        <p:spPr>
          <a:xfrm>
            <a:off x="693115" y="4323283"/>
            <a:ext cx="168250" cy="168250"/>
          </a:xfrm>
          <a:prstGeom prst="rect">
            <a:avLst/>
          </a:prstGeom>
        </p:spPr>
      </p:pic>
      <p:sp>
        <p:nvSpPr>
          <p:cNvPr id="26" name="Text 127"/>
          <p:cNvSpPr txBox="1"/>
          <p:nvPr/>
        </p:nvSpPr>
        <p:spPr>
          <a:xfrm>
            <a:off x="1143000" y="4160520"/>
            <a:ext cx="7406640" cy="502920"/>
          </a:xfrm>
          <a:prstGeom prst="rect">
            <a:avLst/>
          </a:prstGeom>
          <a:noFill/>
          <a:ln/>
        </p:spPr>
        <p:txBody>
          <a:bodyPr wrap="square" lIns="0" tIns="0" rIns="0" bIns="0" rtlCol="0" anchor="ctr"/>
          <a:lstStyle/>
          <a:p>
            <a:pPr indent="0" marL="0">
              <a:buNone/>
            </a:pPr>
            <a:r>
              <a:rPr lang="en-US" sz="1400" b="1" dirty="0">
                <a:solidFill>
                  <a:schemeClr val="bg1"/>
                </a:solidFill>
              </a:rPr>
              <a:t>Privacy by design: anonymized data, role-based access and a full audit log</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Forecasting demand before it arrives</a:t>
            </a:r>
            <a:endParaRPr lang="en-US" sz="3200" dirty="0"/>
          </a:p>
        </p:txBody>
      </p:sp>
      <p:graphicFrame>
        <p:nvGraphicFramePr>
          <p:cNvPr id="4" name="Chart 0" descr=""/>
          <p:cNvGraphicFramePr/>
          <p:nvPr/>
        </p:nvGraphicFramePr>
        <p:xfrm>
          <a:off x="457200" y="1188720"/>
          <a:ext cx="5394960" cy="3063240"/>
        </p:xfrm>
        <a:graphic xmlns:a="http://schemas.openxmlformats.org/drawingml/2006/main">
          <a:graphicData uri="http://schemas.openxmlformats.org/drawingml/2006/chart">
            <c:chart xmlns:c="http://schemas.openxmlformats.org/drawingml/2006/chart" r:id="rId1"/>
          </a:graphicData>
        </a:graphic>
      </p:graphicFrame>
      <p:sp>
        <p:nvSpPr>
          <p:cNvPr id="5" name="Text 128"/>
          <p:cNvSpPr txBox="1"/>
          <p:nvPr/>
        </p:nvSpPr>
        <p:spPr>
          <a:xfrm>
            <a:off x="457200" y="4343400"/>
            <a:ext cx="5394960" cy="228600"/>
          </a:xfrm>
          <a:prstGeom prst="rect">
            <a:avLst/>
          </a:prstGeom>
          <a:noFill/>
          <a:ln/>
        </p:spPr>
        <p:txBody>
          <a:bodyPr wrap="square" lIns="0" tIns="0" rIns="0" bIns="0" rtlCol="0" anchor="t"/>
          <a:lstStyle/>
          <a:p>
            <a:pPr indent="0" marL="0">
              <a:buNone/>
            </a:pPr>
            <a:r>
              <a:rPr lang="en-US" sz="1100" i="1" dirty="0">
                <a:solidFill>
                  <a:schemeClr val="accent5"/>
                </a:solidFill>
              </a:rPr>
              <a:t>Illustrative simulated data, about 270 ED visits per day</a:t>
            </a:r>
            <a:endParaRPr lang="en-US" sz="1100" dirty="0"/>
          </a:p>
        </p:txBody>
      </p:sp>
      <p:sp>
        <p:nvSpPr>
          <p:cNvPr id="6" name="Card 129"/>
          <p:cNvSpPr/>
          <p:nvPr/>
        </p:nvSpPr>
        <p:spPr>
          <a:xfrm>
            <a:off x="6035040" y="1234440"/>
            <a:ext cx="2651760" cy="1005840"/>
          </a:xfrm>
          <a:prstGeom prst="roundRect">
            <a:avLst>
              <a:gd name="adj" fmla="val 9091"/>
            </a:avLst>
          </a:prstGeom>
          <a:solidFill>
            <a:schemeClr val="bg2"/>
          </a:solidFill>
          <a:ln w="12700">
            <a:solidFill>
              <a:schemeClr val="bg2"/>
            </a:solidFill>
            <a:prstDash val="solid"/>
          </a:ln>
        </p:spPr>
      </p:sp>
      <p:sp>
        <p:nvSpPr>
          <p:cNvPr id="7" name="Text 130"/>
          <p:cNvSpPr txBox="1"/>
          <p:nvPr/>
        </p:nvSpPr>
        <p:spPr>
          <a:xfrm>
            <a:off x="6217920" y="1325880"/>
            <a:ext cx="2331720" cy="274320"/>
          </a:xfrm>
          <a:prstGeom prst="rect">
            <a:avLst/>
          </a:prstGeom>
          <a:noFill/>
          <a:ln/>
        </p:spPr>
        <p:txBody>
          <a:bodyPr wrap="square" lIns="0" tIns="0" rIns="0" bIns="0" rtlCol="0" anchor="t"/>
          <a:lstStyle/>
          <a:p>
            <a:pPr indent="0" marL="0">
              <a:buNone/>
            </a:pPr>
            <a:r>
              <a:rPr lang="en-US" sz="1600" b="1" dirty="0">
                <a:solidFill>
                  <a:schemeClr val="tx2"/>
                </a:solidFill>
              </a:rPr>
              <a:t>Inputs</a:t>
            </a:r>
            <a:endParaRPr lang="en-US" sz="1600" dirty="0"/>
          </a:p>
        </p:txBody>
      </p:sp>
      <p:sp>
        <p:nvSpPr>
          <p:cNvPr id="8" name="Text 131"/>
          <p:cNvSpPr txBox="1"/>
          <p:nvPr/>
        </p:nvSpPr>
        <p:spPr>
          <a:xfrm>
            <a:off x="6217920" y="1627632"/>
            <a:ext cx="2331720" cy="566928"/>
          </a:xfrm>
          <a:prstGeom prst="rect">
            <a:avLst/>
          </a:prstGeom>
          <a:noFill/>
          <a:ln/>
        </p:spPr>
        <p:txBody>
          <a:bodyPr wrap="square" lIns="0" tIns="0" rIns="0" bIns="0" rtlCol="0" anchor="t"/>
          <a:lstStyle/>
          <a:p>
            <a:pPr indent="0" marL="0">
              <a:buNone/>
            </a:pPr>
            <a:r>
              <a:rPr lang="en-US" sz="1300" dirty="0">
                <a:solidFill>
                  <a:schemeClr val="tx1"/>
                </a:solidFill>
              </a:rPr>
              <a:t>Admission history, appointments, weekday and season</a:t>
            </a:r>
            <a:endParaRPr lang="en-US" sz="1300" dirty="0"/>
          </a:p>
        </p:txBody>
      </p:sp>
      <p:sp>
        <p:nvSpPr>
          <p:cNvPr id="9" name="Card 132"/>
          <p:cNvSpPr/>
          <p:nvPr/>
        </p:nvSpPr>
        <p:spPr>
          <a:xfrm>
            <a:off x="6035040" y="2377440"/>
            <a:ext cx="2651760" cy="1005840"/>
          </a:xfrm>
          <a:prstGeom prst="roundRect">
            <a:avLst>
              <a:gd name="adj" fmla="val 9091"/>
            </a:avLst>
          </a:prstGeom>
          <a:solidFill>
            <a:schemeClr val="bg2"/>
          </a:solidFill>
          <a:ln w="12700">
            <a:solidFill>
              <a:schemeClr val="bg2"/>
            </a:solidFill>
            <a:prstDash val="solid"/>
          </a:ln>
        </p:spPr>
      </p:sp>
      <p:sp>
        <p:nvSpPr>
          <p:cNvPr id="10" name="Text 133"/>
          <p:cNvSpPr txBox="1"/>
          <p:nvPr/>
        </p:nvSpPr>
        <p:spPr>
          <a:xfrm>
            <a:off x="6217920" y="2468880"/>
            <a:ext cx="2331720" cy="274320"/>
          </a:xfrm>
          <a:prstGeom prst="rect">
            <a:avLst/>
          </a:prstGeom>
          <a:noFill/>
          <a:ln/>
        </p:spPr>
        <p:txBody>
          <a:bodyPr wrap="square" lIns="0" tIns="0" rIns="0" bIns="0" rtlCol="0" anchor="t"/>
          <a:lstStyle/>
          <a:p>
            <a:pPr indent="0" marL="0">
              <a:buNone/>
            </a:pPr>
            <a:r>
              <a:rPr lang="en-US" sz="1600" b="1" dirty="0">
                <a:solidFill>
                  <a:schemeClr val="tx2"/>
                </a:solidFill>
              </a:rPr>
              <a:t>Model</a:t>
            </a:r>
            <a:endParaRPr lang="en-US" sz="1600" dirty="0"/>
          </a:p>
        </p:txBody>
      </p:sp>
      <p:sp>
        <p:nvSpPr>
          <p:cNvPr id="11" name="Text 134"/>
          <p:cNvSpPr txBox="1"/>
          <p:nvPr/>
        </p:nvSpPr>
        <p:spPr>
          <a:xfrm>
            <a:off x="6217920" y="2770632"/>
            <a:ext cx="2331720" cy="566928"/>
          </a:xfrm>
          <a:prstGeom prst="rect">
            <a:avLst/>
          </a:prstGeom>
          <a:noFill/>
          <a:ln/>
        </p:spPr>
        <p:txBody>
          <a:bodyPr wrap="square" lIns="0" tIns="0" rIns="0" bIns="0" rtlCol="0" anchor="t"/>
          <a:lstStyle/>
          <a:p>
            <a:pPr indent="0" marL="0">
              <a:buNone/>
            </a:pPr>
            <a:r>
              <a:rPr lang="en-US" sz="1300" dirty="0">
                <a:solidFill>
                  <a:schemeClr val="tx1"/>
                </a:solidFill>
              </a:rPr>
              <a:t>Time-series baseline plus gradient boosting</a:t>
            </a:r>
            <a:endParaRPr lang="en-US" sz="1300" dirty="0"/>
          </a:p>
        </p:txBody>
      </p:sp>
      <p:sp>
        <p:nvSpPr>
          <p:cNvPr id="12" name="Card 135"/>
          <p:cNvSpPr/>
          <p:nvPr/>
        </p:nvSpPr>
        <p:spPr>
          <a:xfrm>
            <a:off x="6035040" y="3520440"/>
            <a:ext cx="2651760" cy="1005840"/>
          </a:xfrm>
          <a:prstGeom prst="roundRect">
            <a:avLst>
              <a:gd name="adj" fmla="val 9091"/>
            </a:avLst>
          </a:prstGeom>
          <a:solidFill>
            <a:schemeClr val="bg2"/>
          </a:solidFill>
          <a:ln w="12700">
            <a:solidFill>
              <a:schemeClr val="bg2"/>
            </a:solidFill>
            <a:prstDash val="solid"/>
          </a:ln>
        </p:spPr>
      </p:sp>
      <p:sp>
        <p:nvSpPr>
          <p:cNvPr id="13" name="Text 136"/>
          <p:cNvSpPr txBox="1"/>
          <p:nvPr/>
        </p:nvSpPr>
        <p:spPr>
          <a:xfrm>
            <a:off x="6217920" y="3611880"/>
            <a:ext cx="2331720" cy="274320"/>
          </a:xfrm>
          <a:prstGeom prst="rect">
            <a:avLst/>
          </a:prstGeom>
          <a:noFill/>
          <a:ln/>
        </p:spPr>
        <p:txBody>
          <a:bodyPr wrap="square" lIns="0" tIns="0" rIns="0" bIns="0" rtlCol="0" anchor="t"/>
          <a:lstStyle/>
          <a:p>
            <a:pPr indent="0" marL="0">
              <a:buNone/>
            </a:pPr>
            <a:r>
              <a:rPr lang="en-US" sz="1600" b="1" dirty="0">
                <a:solidFill>
                  <a:schemeClr val="tx2"/>
                </a:solidFill>
              </a:rPr>
              <a:t>Output</a:t>
            </a:r>
            <a:endParaRPr lang="en-US" sz="1600" dirty="0"/>
          </a:p>
        </p:txBody>
      </p:sp>
      <p:sp>
        <p:nvSpPr>
          <p:cNvPr id="14" name="Text 137"/>
          <p:cNvSpPr txBox="1"/>
          <p:nvPr/>
        </p:nvSpPr>
        <p:spPr>
          <a:xfrm>
            <a:off x="6217920" y="3913632"/>
            <a:ext cx="2331720" cy="566928"/>
          </a:xfrm>
          <a:prstGeom prst="rect">
            <a:avLst/>
          </a:prstGeom>
          <a:noFill/>
          <a:ln/>
        </p:spPr>
        <p:txBody>
          <a:bodyPr wrap="square" lIns="0" tIns="0" rIns="0" bIns="0" rtlCol="0" anchor="t"/>
          <a:lstStyle/>
          <a:p>
            <a:pPr indent="0" marL="0">
              <a:buNone/>
            </a:pPr>
            <a:r>
              <a:rPr lang="en-US" sz="1300" dirty="0">
                <a:solidFill>
                  <a:schemeClr val="tx1"/>
                </a:solidFill>
              </a:rPr>
              <a:t>Surge window 17:00 to 19:00, peak near 19 arrivals per hour</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Matching patients to the right bed</a:t>
            </a:r>
            <a:endParaRPr lang="en-US" sz="3200" dirty="0"/>
          </a:p>
        </p:txBody>
      </p:sp>
      <p:sp>
        <p:nvSpPr>
          <p:cNvPr id="4" name="Card 138"/>
          <p:cNvSpPr/>
          <p:nvPr/>
        </p:nvSpPr>
        <p:spPr>
          <a:xfrm>
            <a:off x="457200" y="1143000"/>
            <a:ext cx="8229600" cy="685800"/>
          </a:xfrm>
          <a:prstGeom prst="roundRect">
            <a:avLst>
              <a:gd name="adj" fmla="val 13333"/>
            </a:avLst>
          </a:prstGeom>
          <a:solidFill>
            <a:schemeClr val="tx2"/>
          </a:solidFill>
          <a:ln w="12700">
            <a:solidFill>
              <a:schemeClr val="tx2"/>
            </a:solidFill>
            <a:prstDash val="solid"/>
          </a:ln>
        </p:spPr>
      </p:sp>
      <p:sp>
        <p:nvSpPr>
          <p:cNvPr id="5" name="Icon circle 139"/>
          <p:cNvSpPr/>
          <p:nvPr/>
        </p:nvSpPr>
        <p:spPr>
          <a:xfrm>
            <a:off x="640080" y="1234440"/>
            <a:ext cx="502920" cy="502920"/>
          </a:xfrm>
          <a:prstGeom prst="ellipse">
            <a:avLst/>
          </a:prstGeom>
          <a:solidFill>
            <a:schemeClr val="accent1"/>
          </a:solidFill>
          <a:ln w="12700">
            <a:solidFill>
              <a:schemeClr val="accent1"/>
            </a:solidFill>
            <a:prstDash val="solid"/>
          </a:ln>
        </p:spPr>
      </p:sp>
      <p:pic>
        <p:nvPicPr>
          <p:cNvPr id="6" name="Icon 140" descr="icon">    </p:cNvPr>
          <p:cNvPicPr>
            <a:picLocks noChangeAspect="1"/>
          </p:cNvPicPr>
          <p:nvPr/>
        </p:nvPicPr>
        <p:blipFill>
          <a:blip r:embed="rId1"/>
          <a:stretch>
            <a:fillRect/>
          </a:stretch>
        </p:blipFill>
        <p:spPr>
          <a:xfrm>
            <a:off x="775868" y="1370228"/>
            <a:ext cx="231343" cy="231343"/>
          </a:xfrm>
          <a:prstGeom prst="rect">
            <a:avLst/>
          </a:prstGeom>
        </p:spPr>
      </p:pic>
      <p:sp>
        <p:nvSpPr>
          <p:cNvPr id="7" name="Text 141"/>
          <p:cNvSpPr txBox="1"/>
          <p:nvPr/>
        </p:nvSpPr>
        <p:spPr>
          <a:xfrm>
            <a:off x="1325880" y="1143000"/>
            <a:ext cx="7223760" cy="685800"/>
          </a:xfrm>
          <a:prstGeom prst="rect">
            <a:avLst/>
          </a:prstGeom>
          <a:noFill/>
          <a:ln/>
        </p:spPr>
        <p:txBody>
          <a:bodyPr wrap="square" lIns="0" tIns="0" rIns="0" bIns="0" rtlCol="0" anchor="ctr"/>
          <a:lstStyle/>
          <a:p>
            <a:pPr indent="0" marL="0">
              <a:buNone/>
            </a:pPr>
            <a:r>
              <a:rPr lang="en-US" sz="1400" b="1" dirty="0">
                <a:solidFill>
                  <a:srgbClr val="F2B134"/>
                </a:solidFill>
              </a:rPr>
              <a:t>Incoming patient: </a:t>
            </a:r>
            <a:pPr indent="0" marL="0">
              <a:buNone/>
            </a:pPr>
            <a:r>
              <a:rPr lang="en-US" sz="1400" dirty="0">
                <a:solidFill>
                  <a:srgbClr val="FFFFFF"/>
                </a:solidFill>
              </a:rPr>
              <a:t>68-year-old man, chest pain, triage level ESI 3. Needs telemetry, no isolation. Admission decision at 16:40.</a:t>
            </a:r>
            <a:endParaRPr lang="en-US" sz="1400" dirty="0"/>
          </a:p>
        </p:txBody>
      </p:sp>
      <p:graphicFrame>
        <p:nvGraphicFramePr>
          <p:cNvPr id="9" name="Ranked ward options"/>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2377440"/>
                <a:gridCol w="822960"/>
                <a:gridCol w="822960"/>
                <a:gridCol w="4206240"/>
              </a:tblGrid>
              <a:tr h="384048">
                <a:tc>
                  <a:txBody>
                    <a:bodyPr/>
                    <a:lstStyle/>
                    <a:p>
                      <a:pPr indent="0" marL="0">
                        <a:buNone/>
                      </a:pPr>
                      <a:r>
                        <a:rPr lang="en-US" sz="1400" b="1" dirty="0">
                          <a:solidFill>
                            <a:srgbClr val="FFFFFF"/>
                          </a:solidFill>
                        </a:rPr>
                        <a:t>Ward</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rPr>
                        <a:t>Score</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rPr>
                        <a:t>Free</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rPr>
                        <a:t>Why</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r>
              <a:tr h="457200">
                <a:tc>
                  <a:txBody>
                    <a:bodyPr/>
                    <a:lstStyle/>
                    <a:p>
                      <a:pPr indent="0" marL="0">
                        <a:buNone/>
                      </a:pPr>
                      <a:r>
                        <a:rPr lang="en-US" sz="1400" dirty="0">
                          <a:solidFill>
                            <a:srgbClr val="10252B"/>
                          </a:solidFill>
                        </a:rPr>
                        <a:t>4B Cardiac step-down</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6EFEA"/>
                    </a:solidFill>
                  </a:tcPr>
                </a:tc>
                <a:tc>
                  <a:txBody>
                    <a:bodyPr/>
                    <a:lstStyle/>
                    <a:p>
                      <a:pPr indent="0" marL="0">
                        <a:buNone/>
                      </a:pPr>
                      <a:r>
                        <a:rPr lang="en-US" sz="1400" b="1" dirty="0">
                          <a:solidFill>
                            <a:srgbClr val="10252B"/>
                          </a:solidFill>
                        </a:rPr>
                        <a:t>92</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6EFEA"/>
                    </a:solidFill>
                  </a:tcPr>
                </a:tc>
                <a:tc>
                  <a:txBody>
                    <a:bodyPr/>
                    <a:lstStyle/>
                    <a:p>
                      <a:pPr indent="0" marL="0">
                        <a:buNone/>
                      </a:pPr>
                      <a:r>
                        <a:rPr lang="en-US" sz="1400" dirty="0">
                          <a:solidFill>
                            <a:srgbClr val="10252B"/>
                          </a:solidFill>
                        </a:rPr>
                        <a:t>2</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6EFEA"/>
                    </a:solidFill>
                  </a:tcPr>
                </a:tc>
                <a:tc>
                  <a:txBody>
                    <a:bodyPr/>
                    <a:lstStyle/>
                    <a:p>
                      <a:pPr indent="0" marL="0">
                        <a:buNone/>
                      </a:pPr>
                      <a:r>
                        <a:rPr lang="en-US" sz="1400" dirty="0">
                          <a:solidFill>
                            <a:srgbClr val="10252B"/>
                          </a:solidFill>
                        </a:rPr>
                        <a:t>Telemetry; bed ready 17:10 after a discharge</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6EFEA"/>
                    </a:solidFill>
                  </a:tcPr>
                </a:tc>
              </a:tr>
              <a:tr h="457200">
                <a:tc>
                  <a:txBody>
                    <a:bodyPr/>
                    <a:lstStyle/>
                    <a:p>
                      <a:pPr indent="0" marL="0">
                        <a:buNone/>
                      </a:pPr>
                      <a:r>
                        <a:rPr lang="en-US" sz="1400" dirty="0">
                          <a:solidFill>
                            <a:srgbClr val="10252B"/>
                          </a:solidFill>
                        </a:rPr>
                        <a:t>6A General medicine</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b="1" dirty="0">
                          <a:solidFill>
                            <a:srgbClr val="10252B"/>
                          </a:solidFill>
                        </a:rPr>
                        <a:t>78</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dirty="0">
                          <a:solidFill>
                            <a:srgbClr val="10252B"/>
                          </a:solidFill>
                        </a:rPr>
                        <a:t>3</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dirty="0">
                          <a:solidFill>
                            <a:srgbClr val="10252B"/>
                          </a:solidFill>
                        </a:rPr>
                        <a:t>Free now, but no telemetry</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r>
              <a:tr h="457200">
                <a:tc>
                  <a:txBody>
                    <a:bodyPr/>
                    <a:lstStyle/>
                    <a:p>
                      <a:pPr indent="0" marL="0">
                        <a:buNone/>
                      </a:pPr>
                      <a:r>
                        <a:rPr lang="en-US" sz="1400" dirty="0">
                          <a:solidFill>
                            <a:srgbClr val="10252B"/>
                          </a:solidFill>
                        </a:rPr>
                        <a:t>5A Medical</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b="1" dirty="0">
                          <a:solidFill>
                            <a:srgbClr val="10252B"/>
                          </a:solidFill>
                        </a:rPr>
                        <a:t>64</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dirty="0">
                          <a:solidFill>
                            <a:srgbClr val="10252B"/>
                          </a:solidFill>
                        </a:rPr>
                        <a:t>0</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dirty="0">
                          <a:solidFill>
                            <a:srgbClr val="10252B"/>
                          </a:solidFill>
                        </a:rPr>
                        <a:t>Full until 19:00</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r>
              <a:tr h="457200">
                <a:tc>
                  <a:txBody>
                    <a:bodyPr/>
                    <a:lstStyle/>
                    <a:p>
                      <a:pPr indent="0" marL="0">
                        <a:buNone/>
                      </a:pPr>
                      <a:r>
                        <a:rPr lang="en-US" sz="1400" dirty="0">
                          <a:solidFill>
                            <a:srgbClr val="10252B"/>
                          </a:solidFill>
                        </a:rPr>
                        <a:t>ICU</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b="1" dirty="0">
                          <a:solidFill>
                            <a:srgbClr val="10252B"/>
                          </a:solidFill>
                        </a:rPr>
                        <a:t>41</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dirty="0">
                          <a:solidFill>
                            <a:srgbClr val="10252B"/>
                          </a:solidFill>
                        </a:rPr>
                        <a:t>1</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indent="0" marL="0">
                        <a:buNone/>
                      </a:pPr>
                      <a:r>
                        <a:rPr lang="en-US" sz="1400" dirty="0">
                          <a:solidFill>
                            <a:srgbClr val="10252B"/>
                          </a:solidFill>
                        </a:rPr>
                        <a:t>Over-triage; keep for critical patients</a:t>
                      </a:r>
                      <a:endParaRPr lang="en-US" sz="1400" dirty="0"/>
                    </a:p>
                  </a:txBody>
                  <a:tcPr marL="91440" marR="9144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r>
            </a:tbl>
          </a:graphicData>
        </a:graphic>
      </p:graphicFrame>
      <p:sp>
        <p:nvSpPr>
          <p:cNvPr id="9" name="Card 142"/>
          <p:cNvSpPr/>
          <p:nvPr/>
        </p:nvSpPr>
        <p:spPr>
          <a:xfrm>
            <a:off x="457200" y="4343400"/>
            <a:ext cx="8229600" cy="365760"/>
          </a:xfrm>
          <a:prstGeom prst="roundRect">
            <a:avLst>
              <a:gd name="adj" fmla="val 25000"/>
            </a:avLst>
          </a:prstGeom>
          <a:solidFill>
            <a:schemeClr val="bg2"/>
          </a:solidFill>
          <a:ln w="12700">
            <a:solidFill>
              <a:schemeClr val="bg2"/>
            </a:solidFill>
            <a:prstDash val="solid"/>
          </a:ln>
        </p:spPr>
      </p:sp>
      <p:sp>
        <p:nvSpPr>
          <p:cNvPr id="10" name="Text 143"/>
          <p:cNvSpPr txBox="1"/>
          <p:nvPr/>
        </p:nvSpPr>
        <p:spPr>
          <a:xfrm>
            <a:off x="640080" y="4343400"/>
            <a:ext cx="7863840" cy="365760"/>
          </a:xfrm>
          <a:prstGeom prst="rect">
            <a:avLst/>
          </a:prstGeom>
          <a:noFill/>
          <a:ln/>
        </p:spPr>
        <p:txBody>
          <a:bodyPr wrap="square" lIns="0" tIns="0" rIns="0" bIns="0" rtlCol="0" anchor="ctr"/>
          <a:lstStyle/>
          <a:p>
            <a:pPr indent="0" marL="0">
              <a:buNone/>
            </a:pPr>
            <a:r>
              <a:rPr lang="en-US" sz="1400" b="1" dirty="0">
                <a:solidFill>
                  <a:schemeClr val="tx2"/>
                </a:solidFill>
              </a:rPr>
              <a:t>Top match is a suggestion; the bed manager confirms or overrides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From bottleneck alert to action</a:t>
            </a:r>
            <a:endParaRPr lang="en-US" sz="3200" dirty="0"/>
          </a:p>
        </p:txBody>
      </p:sp>
      <p:sp>
        <p:nvSpPr>
          <p:cNvPr id="4" name="Card 144"/>
          <p:cNvSpPr/>
          <p:nvPr/>
        </p:nvSpPr>
        <p:spPr>
          <a:xfrm>
            <a:off x="457200" y="1188720"/>
            <a:ext cx="8229600" cy="1024128"/>
          </a:xfrm>
          <a:prstGeom prst="roundRect">
            <a:avLst>
              <a:gd name="adj" fmla="val 8929"/>
            </a:avLst>
          </a:prstGeom>
          <a:solidFill>
            <a:schemeClr val="bg2"/>
          </a:solidFill>
          <a:ln w="12700">
            <a:solidFill>
              <a:schemeClr val="bg2"/>
            </a:solidFill>
            <a:prstDash val="solid"/>
          </a:ln>
        </p:spPr>
      </p:sp>
      <p:sp>
        <p:nvSpPr>
          <p:cNvPr id="5" name="Icon circle 145"/>
          <p:cNvSpPr/>
          <p:nvPr/>
        </p:nvSpPr>
        <p:spPr>
          <a:xfrm>
            <a:off x="640080" y="1444752"/>
            <a:ext cx="512064" cy="512064"/>
          </a:xfrm>
          <a:prstGeom prst="ellipse">
            <a:avLst/>
          </a:prstGeom>
          <a:solidFill>
            <a:schemeClr val="accent2"/>
          </a:solidFill>
          <a:ln w="12700">
            <a:solidFill>
              <a:schemeClr val="accent2"/>
            </a:solidFill>
            <a:prstDash val="solid"/>
          </a:ln>
        </p:spPr>
      </p:sp>
      <p:pic>
        <p:nvPicPr>
          <p:cNvPr id="6" name="Icon 146" descr="icon">    </p:cNvPr>
          <p:cNvPicPr>
            <a:picLocks noChangeAspect="1"/>
          </p:cNvPicPr>
          <p:nvPr/>
        </p:nvPicPr>
        <p:blipFill>
          <a:blip r:embed="rId1"/>
          <a:stretch>
            <a:fillRect/>
          </a:stretch>
        </p:blipFill>
        <p:spPr>
          <a:xfrm>
            <a:off x="778337" y="1583009"/>
            <a:ext cx="235549" cy="235549"/>
          </a:xfrm>
          <a:prstGeom prst="rect">
            <a:avLst/>
          </a:prstGeom>
        </p:spPr>
      </p:pic>
      <p:sp>
        <p:nvSpPr>
          <p:cNvPr id="7" name="Text 147"/>
          <p:cNvSpPr txBox="1"/>
          <p:nvPr/>
        </p:nvSpPr>
        <p:spPr>
          <a:xfrm>
            <a:off x="1371600" y="1325880"/>
            <a:ext cx="3154680" cy="274320"/>
          </a:xfrm>
          <a:prstGeom prst="rect">
            <a:avLst/>
          </a:prstGeom>
          <a:noFill/>
          <a:ln/>
        </p:spPr>
        <p:txBody>
          <a:bodyPr wrap="square" lIns="0" tIns="0" rIns="0" bIns="0" rtlCol="0" anchor="t"/>
          <a:lstStyle/>
          <a:p>
            <a:pPr indent="0" marL="0">
              <a:buNone/>
            </a:pPr>
            <a:r>
              <a:rPr lang="en-US" sz="1500" b="1" dirty="0">
                <a:solidFill>
                  <a:schemeClr val="tx2"/>
                </a:solidFill>
              </a:rPr>
              <a:t>ED wait to reach 95 min by 18:00</a:t>
            </a:r>
            <a:endParaRPr lang="en-US" sz="1500" dirty="0"/>
          </a:p>
        </p:txBody>
      </p:sp>
      <p:sp>
        <p:nvSpPr>
          <p:cNvPr id="8" name="Text 148"/>
          <p:cNvSpPr txBox="1"/>
          <p:nvPr/>
        </p:nvSpPr>
        <p:spPr>
          <a:xfrm>
            <a:off x="1371600" y="1664208"/>
            <a:ext cx="3154680" cy="475488"/>
          </a:xfrm>
          <a:prstGeom prst="rect">
            <a:avLst/>
          </a:prstGeom>
          <a:noFill/>
          <a:ln/>
        </p:spPr>
        <p:txBody>
          <a:bodyPr wrap="square" lIns="0" tIns="0" rIns="0" bIns="0" rtlCol="0" anchor="t"/>
          <a:lstStyle/>
          <a:p>
            <a:pPr indent="0" marL="0">
              <a:buNone/>
            </a:pPr>
            <a:r>
              <a:rPr lang="en-US" sz="1300" dirty="0">
                <a:solidFill>
                  <a:schemeClr val="tx1"/>
                </a:solidFill>
              </a:rPr>
              <a:t>Detected 16:30 · surge from arrival forecast</a:t>
            </a:r>
            <a:endParaRPr lang="en-US" sz="1300" dirty="0"/>
          </a:p>
        </p:txBody>
      </p:sp>
      <p:pic>
        <p:nvPicPr>
          <p:cNvPr id="9" name="Arrow 149" descr="then">    </p:cNvPr>
          <p:cNvPicPr>
            <a:picLocks noChangeAspect="1"/>
          </p:cNvPicPr>
          <p:nvPr/>
        </p:nvPicPr>
        <p:blipFill>
          <a:blip r:embed="rId2"/>
          <a:stretch>
            <a:fillRect/>
          </a:stretch>
        </p:blipFill>
        <p:spPr>
          <a:xfrm>
            <a:off x="4617720" y="1581912"/>
            <a:ext cx="228600" cy="228600"/>
          </a:xfrm>
          <a:prstGeom prst="rect">
            <a:avLst/>
          </a:prstGeom>
        </p:spPr>
      </p:pic>
      <p:sp>
        <p:nvSpPr>
          <p:cNvPr id="10" name="Text 150"/>
          <p:cNvSpPr txBox="1"/>
          <p:nvPr/>
        </p:nvSpPr>
        <p:spPr>
          <a:xfrm>
            <a:off x="5029200" y="1298448"/>
            <a:ext cx="3566160" cy="201168"/>
          </a:xfrm>
          <a:prstGeom prst="rect">
            <a:avLst/>
          </a:prstGeom>
          <a:noFill/>
          <a:ln/>
        </p:spPr>
        <p:txBody>
          <a:bodyPr wrap="square" lIns="0" tIns="0" rIns="0" bIns="0" rtlCol="0" anchor="t"/>
          <a:lstStyle/>
          <a:p>
            <a:pPr indent="0" marL="0">
              <a:buNone/>
            </a:pPr>
            <a:r>
              <a:rPr lang="en-US" sz="1100" b="1" dirty="0">
                <a:solidFill>
                  <a:schemeClr val="accent5"/>
                </a:solidFill>
              </a:rPr>
              <a:t>RECOMMENDED ACTION</a:t>
            </a:r>
            <a:endParaRPr lang="en-US" sz="1100" dirty="0"/>
          </a:p>
        </p:txBody>
      </p:sp>
      <p:sp>
        <p:nvSpPr>
          <p:cNvPr id="11" name="Text 151"/>
          <p:cNvSpPr txBox="1"/>
          <p:nvPr/>
        </p:nvSpPr>
        <p:spPr>
          <a:xfrm>
            <a:off x="5029200" y="1517904"/>
            <a:ext cx="3566160" cy="640080"/>
          </a:xfrm>
          <a:prstGeom prst="rect">
            <a:avLst/>
          </a:prstGeom>
          <a:noFill/>
          <a:ln/>
        </p:spPr>
        <p:txBody>
          <a:bodyPr wrap="square" lIns="0" tIns="0" rIns="0" bIns="0" rtlCol="0" anchor="t"/>
          <a:lstStyle/>
          <a:p>
            <a:pPr indent="0" marL="0">
              <a:buNone/>
            </a:pPr>
            <a:r>
              <a:rPr lang="en-US" sz="1400" dirty="0">
                <a:solidFill>
                  <a:schemeClr val="tx1"/>
                </a:solidFill>
              </a:rPr>
              <a:t>Open fast-track lane; move 6 stable patients to the discharge lounge. Triage order unchanged.</a:t>
            </a:r>
            <a:endParaRPr lang="en-US" sz="1400" dirty="0"/>
          </a:p>
        </p:txBody>
      </p:sp>
      <p:sp>
        <p:nvSpPr>
          <p:cNvPr id="12" name="Card 152"/>
          <p:cNvSpPr/>
          <p:nvPr/>
        </p:nvSpPr>
        <p:spPr>
          <a:xfrm>
            <a:off x="457200" y="2359152"/>
            <a:ext cx="8229600" cy="1024128"/>
          </a:xfrm>
          <a:prstGeom prst="roundRect">
            <a:avLst>
              <a:gd name="adj" fmla="val 8929"/>
            </a:avLst>
          </a:prstGeom>
          <a:solidFill>
            <a:schemeClr val="bg2"/>
          </a:solidFill>
          <a:ln w="12700">
            <a:solidFill>
              <a:schemeClr val="bg2"/>
            </a:solidFill>
            <a:prstDash val="solid"/>
          </a:ln>
        </p:spPr>
      </p:sp>
      <p:sp>
        <p:nvSpPr>
          <p:cNvPr id="13" name="Icon circle 153"/>
          <p:cNvSpPr/>
          <p:nvPr/>
        </p:nvSpPr>
        <p:spPr>
          <a:xfrm>
            <a:off x="640080" y="2615184"/>
            <a:ext cx="512064" cy="512064"/>
          </a:xfrm>
          <a:prstGeom prst="ellipse">
            <a:avLst/>
          </a:prstGeom>
          <a:solidFill>
            <a:schemeClr val="accent3"/>
          </a:solidFill>
          <a:ln w="12700">
            <a:solidFill>
              <a:schemeClr val="accent3"/>
            </a:solidFill>
            <a:prstDash val="solid"/>
          </a:ln>
        </p:spPr>
      </p:sp>
      <p:pic>
        <p:nvPicPr>
          <p:cNvPr id="14" name="Icon 154" descr="icon">    </p:cNvPr>
          <p:cNvPicPr>
            <a:picLocks noChangeAspect="1"/>
          </p:cNvPicPr>
          <p:nvPr/>
        </p:nvPicPr>
        <p:blipFill>
          <a:blip r:embed="rId3"/>
          <a:stretch>
            <a:fillRect/>
          </a:stretch>
        </p:blipFill>
        <p:spPr>
          <a:xfrm>
            <a:off x="778337" y="2753441"/>
            <a:ext cx="235549" cy="235549"/>
          </a:xfrm>
          <a:prstGeom prst="rect">
            <a:avLst/>
          </a:prstGeom>
        </p:spPr>
      </p:pic>
      <p:sp>
        <p:nvSpPr>
          <p:cNvPr id="15" name="Text 155"/>
          <p:cNvSpPr txBox="1"/>
          <p:nvPr/>
        </p:nvSpPr>
        <p:spPr>
          <a:xfrm>
            <a:off x="1371600" y="2496312"/>
            <a:ext cx="3154680" cy="274320"/>
          </a:xfrm>
          <a:prstGeom prst="rect">
            <a:avLst/>
          </a:prstGeom>
          <a:noFill/>
          <a:ln/>
        </p:spPr>
        <p:txBody>
          <a:bodyPr wrap="square" lIns="0" tIns="0" rIns="0" bIns="0" rtlCol="0" anchor="t"/>
          <a:lstStyle/>
          <a:p>
            <a:pPr indent="0" marL="0">
              <a:buNone/>
            </a:pPr>
            <a:r>
              <a:rPr lang="en-US" sz="1500" b="1" dirty="0">
                <a:solidFill>
                  <a:schemeClr val="tx2"/>
                </a:solidFill>
              </a:rPr>
              <a:t>Ward 5A at 96% (23 of 24 beds)</a:t>
            </a:r>
            <a:endParaRPr lang="en-US" sz="1500" dirty="0"/>
          </a:p>
        </p:txBody>
      </p:sp>
      <p:sp>
        <p:nvSpPr>
          <p:cNvPr id="16" name="Text 156"/>
          <p:cNvSpPr txBox="1"/>
          <p:nvPr/>
        </p:nvSpPr>
        <p:spPr>
          <a:xfrm>
            <a:off x="1371600" y="2834640"/>
            <a:ext cx="3154680" cy="475488"/>
          </a:xfrm>
          <a:prstGeom prst="rect">
            <a:avLst/>
          </a:prstGeom>
          <a:noFill/>
          <a:ln/>
        </p:spPr>
        <p:txBody>
          <a:bodyPr wrap="square" lIns="0" tIns="0" rIns="0" bIns="0" rtlCol="0" anchor="t"/>
          <a:lstStyle/>
          <a:p>
            <a:pPr indent="0" marL="0">
              <a:buNone/>
            </a:pPr>
            <a:r>
              <a:rPr lang="en-US" sz="1300" dirty="0">
                <a:solidFill>
                  <a:schemeClr val="tx1"/>
                </a:solidFill>
              </a:rPr>
              <a:t>Detected 16:35 · 4 discharges awaiting transport</a:t>
            </a:r>
            <a:endParaRPr lang="en-US" sz="1300" dirty="0"/>
          </a:p>
        </p:txBody>
      </p:sp>
      <p:pic>
        <p:nvPicPr>
          <p:cNvPr id="17" name="Arrow 157" descr="then">    </p:cNvPr>
          <p:cNvPicPr>
            <a:picLocks noChangeAspect="1"/>
          </p:cNvPicPr>
          <p:nvPr/>
        </p:nvPicPr>
        <p:blipFill>
          <a:blip r:embed="rId4"/>
          <a:stretch>
            <a:fillRect/>
          </a:stretch>
        </p:blipFill>
        <p:spPr>
          <a:xfrm>
            <a:off x="4617720" y="2752344"/>
            <a:ext cx="228600" cy="228600"/>
          </a:xfrm>
          <a:prstGeom prst="rect">
            <a:avLst/>
          </a:prstGeom>
        </p:spPr>
      </p:pic>
      <p:sp>
        <p:nvSpPr>
          <p:cNvPr id="18" name="Text 158"/>
          <p:cNvSpPr txBox="1"/>
          <p:nvPr/>
        </p:nvSpPr>
        <p:spPr>
          <a:xfrm>
            <a:off x="5029200" y="2468880"/>
            <a:ext cx="3566160" cy="201168"/>
          </a:xfrm>
          <a:prstGeom prst="rect">
            <a:avLst/>
          </a:prstGeom>
          <a:noFill/>
          <a:ln/>
        </p:spPr>
        <p:txBody>
          <a:bodyPr wrap="square" lIns="0" tIns="0" rIns="0" bIns="0" rtlCol="0" anchor="t"/>
          <a:lstStyle/>
          <a:p>
            <a:pPr indent="0" marL="0">
              <a:buNone/>
            </a:pPr>
            <a:r>
              <a:rPr lang="en-US" sz="1100" b="1" dirty="0">
                <a:solidFill>
                  <a:schemeClr val="accent5"/>
                </a:solidFill>
              </a:rPr>
              <a:t>RECOMMENDED ACTION</a:t>
            </a:r>
            <a:endParaRPr lang="en-US" sz="1100" dirty="0"/>
          </a:p>
        </p:txBody>
      </p:sp>
      <p:sp>
        <p:nvSpPr>
          <p:cNvPr id="19" name="Text 159"/>
          <p:cNvSpPr txBox="1"/>
          <p:nvPr/>
        </p:nvSpPr>
        <p:spPr>
          <a:xfrm>
            <a:off x="5029200" y="2688336"/>
            <a:ext cx="3566160" cy="640080"/>
          </a:xfrm>
          <a:prstGeom prst="rect">
            <a:avLst/>
          </a:prstGeom>
          <a:noFill/>
          <a:ln/>
        </p:spPr>
        <p:txBody>
          <a:bodyPr wrap="square" lIns="0" tIns="0" rIns="0" bIns="0" rtlCol="0" anchor="t"/>
          <a:lstStyle/>
          <a:p>
            <a:pPr indent="0" marL="0">
              <a:buNone/>
            </a:pPr>
            <a:r>
              <a:rPr lang="en-US" sz="1400" dirty="0">
                <a:solidFill>
                  <a:schemeClr val="tx1"/>
                </a:solidFill>
              </a:rPr>
              <a:t>Request transport for 4 ready discharges by 17:00; frees 4 beds before the surge.</a:t>
            </a:r>
            <a:endParaRPr lang="en-US" sz="1400" dirty="0"/>
          </a:p>
        </p:txBody>
      </p:sp>
      <p:sp>
        <p:nvSpPr>
          <p:cNvPr id="20" name="Card 160"/>
          <p:cNvSpPr/>
          <p:nvPr/>
        </p:nvSpPr>
        <p:spPr>
          <a:xfrm>
            <a:off x="457200" y="3529584"/>
            <a:ext cx="8229600" cy="1024128"/>
          </a:xfrm>
          <a:prstGeom prst="roundRect">
            <a:avLst>
              <a:gd name="adj" fmla="val 8929"/>
            </a:avLst>
          </a:prstGeom>
          <a:solidFill>
            <a:schemeClr val="bg2"/>
          </a:solidFill>
          <a:ln w="12700">
            <a:solidFill>
              <a:schemeClr val="bg2"/>
            </a:solidFill>
            <a:prstDash val="solid"/>
          </a:ln>
        </p:spPr>
      </p:sp>
      <p:sp>
        <p:nvSpPr>
          <p:cNvPr id="21" name="Icon circle 161"/>
          <p:cNvSpPr/>
          <p:nvPr/>
        </p:nvSpPr>
        <p:spPr>
          <a:xfrm>
            <a:off x="640080" y="3785616"/>
            <a:ext cx="512064" cy="512064"/>
          </a:xfrm>
          <a:prstGeom prst="ellipse">
            <a:avLst/>
          </a:prstGeom>
          <a:solidFill>
            <a:schemeClr val="accent4"/>
          </a:solidFill>
          <a:ln w="12700">
            <a:solidFill>
              <a:schemeClr val="accent4"/>
            </a:solidFill>
            <a:prstDash val="solid"/>
          </a:ln>
        </p:spPr>
      </p:sp>
      <p:pic>
        <p:nvPicPr>
          <p:cNvPr id="22" name="Icon 162" descr="icon">    </p:cNvPr>
          <p:cNvPicPr>
            <a:picLocks noChangeAspect="1"/>
          </p:cNvPicPr>
          <p:nvPr/>
        </p:nvPicPr>
        <p:blipFill>
          <a:blip r:embed="rId5"/>
          <a:stretch>
            <a:fillRect/>
          </a:stretch>
        </p:blipFill>
        <p:spPr>
          <a:xfrm>
            <a:off x="778337" y="3923873"/>
            <a:ext cx="235549" cy="235549"/>
          </a:xfrm>
          <a:prstGeom prst="rect">
            <a:avLst/>
          </a:prstGeom>
        </p:spPr>
      </p:pic>
      <p:sp>
        <p:nvSpPr>
          <p:cNvPr id="23" name="Text 163"/>
          <p:cNvSpPr txBox="1"/>
          <p:nvPr/>
        </p:nvSpPr>
        <p:spPr>
          <a:xfrm>
            <a:off x="1371600" y="3666744"/>
            <a:ext cx="3154680" cy="274320"/>
          </a:xfrm>
          <a:prstGeom prst="rect">
            <a:avLst/>
          </a:prstGeom>
          <a:noFill/>
          <a:ln/>
        </p:spPr>
        <p:txBody>
          <a:bodyPr wrap="square" lIns="0" tIns="0" rIns="0" bIns="0" rtlCol="0" anchor="t"/>
          <a:lstStyle/>
          <a:p>
            <a:pPr indent="0" marL="0">
              <a:buNone/>
            </a:pPr>
            <a:r>
              <a:rPr lang="en-US" sz="1500" b="1" dirty="0">
                <a:solidFill>
                  <a:schemeClr val="tx2"/>
                </a:solidFill>
              </a:rPr>
              <a:t>CT scanner idle 40% this afternoon</a:t>
            </a:r>
            <a:endParaRPr lang="en-US" sz="1500" dirty="0"/>
          </a:p>
        </p:txBody>
      </p:sp>
      <p:sp>
        <p:nvSpPr>
          <p:cNvPr id="24" name="Text 164"/>
          <p:cNvSpPr txBox="1"/>
          <p:nvPr/>
        </p:nvSpPr>
        <p:spPr>
          <a:xfrm>
            <a:off x="1371600" y="4005072"/>
            <a:ext cx="3154680" cy="475488"/>
          </a:xfrm>
          <a:prstGeom prst="rect">
            <a:avLst/>
          </a:prstGeom>
          <a:noFill/>
          <a:ln/>
        </p:spPr>
        <p:txBody>
          <a:bodyPr wrap="square" lIns="0" tIns="0" rIns="0" bIns="0" rtlCol="0" anchor="t"/>
          <a:lstStyle/>
          <a:p>
            <a:pPr indent="0" marL="0">
              <a:buNone/>
            </a:pPr>
            <a:r>
              <a:rPr lang="en-US" sz="1300" dirty="0">
                <a:solidFill>
                  <a:schemeClr val="tx1"/>
                </a:solidFill>
              </a:rPr>
              <a:t>Detected 16:40 · 4 outpatient scans movable</a:t>
            </a:r>
            <a:endParaRPr lang="en-US" sz="1300" dirty="0"/>
          </a:p>
        </p:txBody>
      </p:sp>
      <p:pic>
        <p:nvPicPr>
          <p:cNvPr id="25" name="Arrow 165" descr="then">    </p:cNvPr>
          <p:cNvPicPr>
            <a:picLocks noChangeAspect="1"/>
          </p:cNvPicPr>
          <p:nvPr/>
        </p:nvPicPr>
        <p:blipFill>
          <a:blip r:embed="rId6"/>
          <a:stretch>
            <a:fillRect/>
          </a:stretch>
        </p:blipFill>
        <p:spPr>
          <a:xfrm>
            <a:off x="4617720" y="3922776"/>
            <a:ext cx="228600" cy="228600"/>
          </a:xfrm>
          <a:prstGeom prst="rect">
            <a:avLst/>
          </a:prstGeom>
        </p:spPr>
      </p:pic>
      <p:sp>
        <p:nvSpPr>
          <p:cNvPr id="26" name="Text 166"/>
          <p:cNvSpPr txBox="1"/>
          <p:nvPr/>
        </p:nvSpPr>
        <p:spPr>
          <a:xfrm>
            <a:off x="5029200" y="3639312"/>
            <a:ext cx="3566160" cy="201168"/>
          </a:xfrm>
          <a:prstGeom prst="rect">
            <a:avLst/>
          </a:prstGeom>
          <a:noFill/>
          <a:ln/>
        </p:spPr>
        <p:txBody>
          <a:bodyPr wrap="square" lIns="0" tIns="0" rIns="0" bIns="0" rtlCol="0" anchor="t"/>
          <a:lstStyle/>
          <a:p>
            <a:pPr indent="0" marL="0">
              <a:buNone/>
            </a:pPr>
            <a:r>
              <a:rPr lang="en-US" sz="1100" b="1" dirty="0">
                <a:solidFill>
                  <a:schemeClr val="accent5"/>
                </a:solidFill>
              </a:rPr>
              <a:t>RECOMMENDED ACTION</a:t>
            </a:r>
            <a:endParaRPr lang="en-US" sz="1100" dirty="0"/>
          </a:p>
        </p:txBody>
      </p:sp>
      <p:sp>
        <p:nvSpPr>
          <p:cNvPr id="27" name="Text 167"/>
          <p:cNvSpPr txBox="1"/>
          <p:nvPr/>
        </p:nvSpPr>
        <p:spPr>
          <a:xfrm>
            <a:off x="5029200" y="3858768"/>
            <a:ext cx="3566160" cy="640080"/>
          </a:xfrm>
          <a:prstGeom prst="rect">
            <a:avLst/>
          </a:prstGeom>
          <a:noFill/>
          <a:ln/>
        </p:spPr>
        <p:txBody>
          <a:bodyPr wrap="square" lIns="0" tIns="0" rIns="0" bIns="0" rtlCol="0" anchor="t"/>
          <a:lstStyle/>
          <a:p>
            <a:pPr indent="0" marL="0">
              <a:buNone/>
            </a:pPr>
            <a:r>
              <a:rPr lang="en-US" sz="1400" dirty="0">
                <a:solidFill>
                  <a:schemeClr val="tx1"/>
                </a:solidFill>
              </a:rPr>
              <a:t>Pull forward 4 outpatient CT scans from tomorrow to 17:00 to 19:00, easing tomorrow's backlog.</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Operations dashboard at a glance</a:t>
            </a:r>
            <a:endParaRPr lang="en-US" sz="3200" dirty="0"/>
          </a:p>
        </p:txBody>
      </p:sp>
      <p:sp>
        <p:nvSpPr>
          <p:cNvPr id="4" name="Dashboard frame 168"/>
          <p:cNvSpPr/>
          <p:nvPr/>
        </p:nvSpPr>
        <p:spPr>
          <a:xfrm>
            <a:off x="457200" y="1097280"/>
            <a:ext cx="8229600" cy="3611880"/>
          </a:xfrm>
          <a:prstGeom prst="roundRect">
            <a:avLst>
              <a:gd name="adj" fmla="val 3038"/>
            </a:avLst>
          </a:prstGeom>
          <a:solidFill>
            <a:schemeClr val="tx2"/>
          </a:solidFill>
          <a:ln w="12700">
            <a:solidFill>
              <a:schemeClr val="tx2"/>
            </a:solidFill>
            <a:prstDash val="solid"/>
          </a:ln>
        </p:spPr>
      </p:sp>
      <p:sp>
        <p:nvSpPr>
          <p:cNvPr id="5" name="Text 169"/>
          <p:cNvSpPr txBox="1"/>
          <p:nvPr/>
        </p:nvSpPr>
        <p:spPr>
          <a:xfrm>
            <a:off x="640080" y="1170432"/>
            <a:ext cx="4572000" cy="228600"/>
          </a:xfrm>
          <a:prstGeom prst="rect">
            <a:avLst/>
          </a:prstGeom>
          <a:noFill/>
          <a:ln/>
        </p:spPr>
        <p:txBody>
          <a:bodyPr wrap="square" lIns="0" tIns="0" rIns="0" bIns="0" rtlCol="0" anchor="t"/>
          <a:lstStyle/>
          <a:p>
            <a:pPr indent="0" marL="0">
              <a:buNone/>
            </a:pPr>
            <a:r>
              <a:rPr lang="en-US" sz="1200" b="1" dirty="0">
                <a:solidFill>
                  <a:schemeClr val="bg2"/>
                </a:solidFill>
              </a:rPr>
              <a:t>Hospital operations  ·  Tue 16:30</a:t>
            </a:r>
            <a:endParaRPr lang="en-US" sz="1200" dirty="0"/>
          </a:p>
        </p:txBody>
      </p:sp>
      <p:sp>
        <p:nvSpPr>
          <p:cNvPr id="6" name="Text 170"/>
          <p:cNvSpPr txBox="1"/>
          <p:nvPr/>
        </p:nvSpPr>
        <p:spPr>
          <a:xfrm>
            <a:off x="6949440" y="1170432"/>
            <a:ext cx="1554480" cy="228600"/>
          </a:xfrm>
          <a:prstGeom prst="rect">
            <a:avLst/>
          </a:prstGeom>
          <a:noFill/>
          <a:ln/>
        </p:spPr>
        <p:txBody>
          <a:bodyPr wrap="square" lIns="0" tIns="0" rIns="0" bIns="0" rtlCol="0" anchor="t"/>
          <a:lstStyle/>
          <a:p>
            <a:pPr algn="r" indent="0" marL="0">
              <a:buNone/>
            </a:pPr>
            <a:r>
              <a:rPr lang="en-US" sz="1200" b="1" dirty="0">
                <a:solidFill>
                  <a:srgbClr val="6BCB77"/>
                </a:solidFill>
              </a:rPr>
              <a:t>LIVE (simulated)</a:t>
            </a:r>
            <a:endParaRPr lang="en-US" sz="1200" dirty="0"/>
          </a:p>
        </p:txBody>
      </p:sp>
      <p:sp>
        <p:nvSpPr>
          <p:cNvPr id="7" name="KPI tile 171"/>
          <p:cNvSpPr/>
          <p:nvPr/>
        </p:nvSpPr>
        <p:spPr>
          <a:xfrm>
            <a:off x="594360" y="1463040"/>
            <a:ext cx="1499616" cy="731520"/>
          </a:xfrm>
          <a:prstGeom prst="roundRect">
            <a:avLst>
              <a:gd name="adj" fmla="val 10000"/>
            </a:avLst>
          </a:prstGeom>
          <a:solidFill>
            <a:schemeClr val="bg1">
              <a:alpha val="12000"/>
            </a:schemeClr>
          </a:solidFill>
          <a:ln w="12700">
            <a:solidFill>
              <a:schemeClr val="bg1">
                <a:alpha val="12000"/>
              </a:schemeClr>
            </a:solidFill>
            <a:prstDash val="solid"/>
          </a:ln>
        </p:spPr>
      </p:sp>
      <p:sp>
        <p:nvSpPr>
          <p:cNvPr id="8" name="Text 172"/>
          <p:cNvSpPr txBox="1"/>
          <p:nvPr/>
        </p:nvSpPr>
        <p:spPr>
          <a:xfrm>
            <a:off x="704088" y="1499616"/>
            <a:ext cx="1325880" cy="384048"/>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87%</a:t>
            </a:r>
            <a:endParaRPr lang="en-US" sz="2200" dirty="0"/>
          </a:p>
        </p:txBody>
      </p:sp>
      <p:sp>
        <p:nvSpPr>
          <p:cNvPr id="9" name="Text 173"/>
          <p:cNvSpPr txBox="1"/>
          <p:nvPr/>
        </p:nvSpPr>
        <p:spPr>
          <a:xfrm>
            <a:off x="704088" y="1901952"/>
            <a:ext cx="1325880" cy="228600"/>
          </a:xfrm>
          <a:prstGeom prst="rect">
            <a:avLst/>
          </a:prstGeom>
          <a:noFill/>
          <a:ln/>
        </p:spPr>
        <p:txBody>
          <a:bodyPr wrap="square" lIns="0" tIns="0" rIns="0" bIns="0" rtlCol="0" anchor="t"/>
          <a:lstStyle/>
          <a:p>
            <a:pPr indent="0" marL="0">
              <a:buNone/>
            </a:pPr>
            <a:r>
              <a:rPr lang="en-US" sz="1100" dirty="0">
                <a:solidFill>
                  <a:schemeClr val="bg2"/>
                </a:solidFill>
              </a:rPr>
              <a:t>Hospital occupancy</a:t>
            </a:r>
            <a:endParaRPr lang="en-US" sz="1100" dirty="0"/>
          </a:p>
        </p:txBody>
      </p:sp>
      <p:sp>
        <p:nvSpPr>
          <p:cNvPr id="10" name="KPI tile 174"/>
          <p:cNvSpPr/>
          <p:nvPr/>
        </p:nvSpPr>
        <p:spPr>
          <a:xfrm>
            <a:off x="2185416" y="1463040"/>
            <a:ext cx="1499616" cy="731520"/>
          </a:xfrm>
          <a:prstGeom prst="roundRect">
            <a:avLst>
              <a:gd name="adj" fmla="val 10000"/>
            </a:avLst>
          </a:prstGeom>
          <a:solidFill>
            <a:schemeClr val="bg1">
              <a:alpha val="12000"/>
            </a:schemeClr>
          </a:solidFill>
          <a:ln w="12700">
            <a:solidFill>
              <a:schemeClr val="bg1">
                <a:alpha val="12000"/>
              </a:schemeClr>
            </a:solidFill>
            <a:prstDash val="solid"/>
          </a:ln>
        </p:spPr>
      </p:sp>
      <p:sp>
        <p:nvSpPr>
          <p:cNvPr id="11" name="Text 175"/>
          <p:cNvSpPr txBox="1"/>
          <p:nvPr/>
        </p:nvSpPr>
        <p:spPr>
          <a:xfrm>
            <a:off x="2295144" y="1499616"/>
            <a:ext cx="1325880" cy="384048"/>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38</a:t>
            </a:r>
            <a:endParaRPr lang="en-US" sz="2200" dirty="0"/>
          </a:p>
        </p:txBody>
      </p:sp>
      <p:sp>
        <p:nvSpPr>
          <p:cNvPr id="12" name="Text 176"/>
          <p:cNvSpPr txBox="1"/>
          <p:nvPr/>
        </p:nvSpPr>
        <p:spPr>
          <a:xfrm>
            <a:off x="2295144" y="1901952"/>
            <a:ext cx="1325880" cy="228600"/>
          </a:xfrm>
          <a:prstGeom prst="rect">
            <a:avLst/>
          </a:prstGeom>
          <a:noFill/>
          <a:ln/>
        </p:spPr>
        <p:txBody>
          <a:bodyPr wrap="square" lIns="0" tIns="0" rIns="0" bIns="0" rtlCol="0" anchor="t"/>
          <a:lstStyle/>
          <a:p>
            <a:pPr indent="0" marL="0">
              <a:buNone/>
            </a:pPr>
            <a:r>
              <a:rPr lang="en-US" sz="1100" dirty="0">
                <a:solidFill>
                  <a:schemeClr val="bg2"/>
                </a:solidFill>
              </a:rPr>
              <a:t>Waiting in ED</a:t>
            </a:r>
            <a:endParaRPr lang="en-US" sz="1100" dirty="0"/>
          </a:p>
        </p:txBody>
      </p:sp>
      <p:sp>
        <p:nvSpPr>
          <p:cNvPr id="13" name="KPI tile 177"/>
          <p:cNvSpPr/>
          <p:nvPr/>
        </p:nvSpPr>
        <p:spPr>
          <a:xfrm>
            <a:off x="3776472" y="1463040"/>
            <a:ext cx="1499616" cy="731520"/>
          </a:xfrm>
          <a:prstGeom prst="roundRect">
            <a:avLst>
              <a:gd name="adj" fmla="val 10000"/>
            </a:avLst>
          </a:prstGeom>
          <a:solidFill>
            <a:schemeClr val="bg1">
              <a:alpha val="12000"/>
            </a:schemeClr>
          </a:solidFill>
          <a:ln w="12700">
            <a:solidFill>
              <a:schemeClr val="bg1">
                <a:alpha val="12000"/>
              </a:schemeClr>
            </a:solidFill>
            <a:prstDash val="solid"/>
          </a:ln>
        </p:spPr>
      </p:sp>
      <p:sp>
        <p:nvSpPr>
          <p:cNvPr id="14" name="Text 178"/>
          <p:cNvSpPr txBox="1"/>
          <p:nvPr/>
        </p:nvSpPr>
        <p:spPr>
          <a:xfrm>
            <a:off x="3886200" y="1499616"/>
            <a:ext cx="1325880" cy="384048"/>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47 min</a:t>
            </a:r>
            <a:endParaRPr lang="en-US" sz="2200" dirty="0"/>
          </a:p>
        </p:txBody>
      </p:sp>
      <p:sp>
        <p:nvSpPr>
          <p:cNvPr id="15" name="Text 179"/>
          <p:cNvSpPr txBox="1"/>
          <p:nvPr/>
        </p:nvSpPr>
        <p:spPr>
          <a:xfrm>
            <a:off x="3886200" y="1901952"/>
            <a:ext cx="1325880" cy="228600"/>
          </a:xfrm>
          <a:prstGeom prst="rect">
            <a:avLst/>
          </a:prstGeom>
          <a:noFill/>
          <a:ln/>
        </p:spPr>
        <p:txBody>
          <a:bodyPr wrap="square" lIns="0" tIns="0" rIns="0" bIns="0" rtlCol="0" anchor="t"/>
          <a:lstStyle/>
          <a:p>
            <a:pPr indent="0" marL="0">
              <a:buNone/>
            </a:pPr>
            <a:r>
              <a:rPr lang="en-US" sz="1100" dirty="0">
                <a:solidFill>
                  <a:schemeClr val="bg2"/>
                </a:solidFill>
              </a:rPr>
              <a:t>Median ED wait</a:t>
            </a:r>
            <a:endParaRPr lang="en-US" sz="1100" dirty="0"/>
          </a:p>
        </p:txBody>
      </p:sp>
      <p:sp>
        <p:nvSpPr>
          <p:cNvPr id="16" name="KPI tile 180"/>
          <p:cNvSpPr/>
          <p:nvPr/>
        </p:nvSpPr>
        <p:spPr>
          <a:xfrm>
            <a:off x="5367528" y="1463040"/>
            <a:ext cx="1499616" cy="731520"/>
          </a:xfrm>
          <a:prstGeom prst="roundRect">
            <a:avLst>
              <a:gd name="adj" fmla="val 10000"/>
            </a:avLst>
          </a:prstGeom>
          <a:solidFill>
            <a:schemeClr val="bg1">
              <a:alpha val="12000"/>
            </a:schemeClr>
          </a:solidFill>
          <a:ln w="12700">
            <a:solidFill>
              <a:schemeClr val="bg1">
                <a:alpha val="12000"/>
              </a:schemeClr>
            </a:solidFill>
            <a:prstDash val="solid"/>
          </a:ln>
        </p:spPr>
      </p:sp>
      <p:sp>
        <p:nvSpPr>
          <p:cNvPr id="17" name="Text 181"/>
          <p:cNvSpPr txBox="1"/>
          <p:nvPr/>
        </p:nvSpPr>
        <p:spPr>
          <a:xfrm>
            <a:off x="5477256" y="1499616"/>
            <a:ext cx="1325880" cy="384048"/>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23</a:t>
            </a:r>
            <a:endParaRPr lang="en-US" sz="2200" dirty="0"/>
          </a:p>
        </p:txBody>
      </p:sp>
      <p:sp>
        <p:nvSpPr>
          <p:cNvPr id="18" name="Text 182"/>
          <p:cNvSpPr txBox="1"/>
          <p:nvPr/>
        </p:nvSpPr>
        <p:spPr>
          <a:xfrm>
            <a:off x="5477256" y="1901952"/>
            <a:ext cx="1325880" cy="228600"/>
          </a:xfrm>
          <a:prstGeom prst="rect">
            <a:avLst/>
          </a:prstGeom>
          <a:noFill/>
          <a:ln/>
        </p:spPr>
        <p:txBody>
          <a:bodyPr wrap="square" lIns="0" tIns="0" rIns="0" bIns="0" rtlCol="0" anchor="t"/>
          <a:lstStyle/>
          <a:p>
            <a:pPr indent="0" marL="0">
              <a:buNone/>
            </a:pPr>
            <a:r>
              <a:rPr lang="en-US" sz="1100" dirty="0">
                <a:solidFill>
                  <a:schemeClr val="bg2"/>
                </a:solidFill>
              </a:rPr>
              <a:t>Free beds</a:t>
            </a:r>
            <a:endParaRPr lang="en-US" sz="1100" dirty="0"/>
          </a:p>
        </p:txBody>
      </p:sp>
      <p:sp>
        <p:nvSpPr>
          <p:cNvPr id="19" name="KPI tile 183"/>
          <p:cNvSpPr/>
          <p:nvPr/>
        </p:nvSpPr>
        <p:spPr>
          <a:xfrm>
            <a:off x="6958584" y="1463040"/>
            <a:ext cx="1499616" cy="731520"/>
          </a:xfrm>
          <a:prstGeom prst="roundRect">
            <a:avLst>
              <a:gd name="adj" fmla="val 10000"/>
            </a:avLst>
          </a:prstGeom>
          <a:solidFill>
            <a:schemeClr val="bg1">
              <a:alpha val="12000"/>
            </a:schemeClr>
          </a:solidFill>
          <a:ln w="12700">
            <a:solidFill>
              <a:schemeClr val="bg1">
                <a:alpha val="12000"/>
              </a:schemeClr>
            </a:solidFill>
            <a:prstDash val="solid"/>
          </a:ln>
        </p:spPr>
      </p:sp>
      <p:sp>
        <p:nvSpPr>
          <p:cNvPr id="20" name="Text 184"/>
          <p:cNvSpPr txBox="1"/>
          <p:nvPr/>
        </p:nvSpPr>
        <p:spPr>
          <a:xfrm>
            <a:off x="7068312" y="1499616"/>
            <a:ext cx="1325880" cy="384048"/>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17:30</a:t>
            </a:r>
            <a:endParaRPr lang="en-US" sz="2200" dirty="0"/>
          </a:p>
        </p:txBody>
      </p:sp>
      <p:sp>
        <p:nvSpPr>
          <p:cNvPr id="21" name="Text 185"/>
          <p:cNvSpPr txBox="1"/>
          <p:nvPr/>
        </p:nvSpPr>
        <p:spPr>
          <a:xfrm>
            <a:off x="7068312" y="1901952"/>
            <a:ext cx="1325880" cy="228600"/>
          </a:xfrm>
          <a:prstGeom prst="rect">
            <a:avLst/>
          </a:prstGeom>
          <a:noFill/>
          <a:ln/>
        </p:spPr>
        <p:txBody>
          <a:bodyPr wrap="square" lIns="0" tIns="0" rIns="0" bIns="0" rtlCol="0" anchor="t"/>
          <a:lstStyle/>
          <a:p>
            <a:pPr indent="0" marL="0">
              <a:buNone/>
            </a:pPr>
            <a:r>
              <a:rPr lang="en-US" sz="1100" dirty="0">
                <a:solidFill>
                  <a:schemeClr val="bg2"/>
                </a:solidFill>
              </a:rPr>
              <a:t>Predicted peak</a:t>
            </a:r>
            <a:endParaRPr lang="en-US" sz="1100" dirty="0"/>
          </a:p>
        </p:txBody>
      </p:sp>
      <p:graphicFrame>
        <p:nvGraphicFramePr>
          <p:cNvPr id="22" name="Chart 0" descr=""/>
          <p:cNvGraphicFramePr/>
          <p:nvPr/>
        </p:nvGraphicFramePr>
        <p:xfrm>
          <a:off x="594360" y="2286000"/>
          <a:ext cx="320040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23" name="Chart 1" descr=""/>
          <p:cNvGraphicFramePr/>
          <p:nvPr/>
        </p:nvGraphicFramePr>
        <p:xfrm>
          <a:off x="3886200" y="2286000"/>
          <a:ext cx="2651760" cy="2331720"/>
        </p:xfrm>
        <a:graphic xmlns:a="http://schemas.openxmlformats.org/drawingml/2006/main">
          <a:graphicData uri="http://schemas.openxmlformats.org/drawingml/2006/chart">
            <c:chart xmlns:c="http://schemas.openxmlformats.org/drawingml/2006/chart" r:id="rId2"/>
          </a:graphicData>
        </a:graphic>
      </p:graphicFrame>
      <p:sp>
        <p:nvSpPr>
          <p:cNvPr id="24" name="Alert panel 186"/>
          <p:cNvSpPr/>
          <p:nvPr/>
        </p:nvSpPr>
        <p:spPr>
          <a:xfrm>
            <a:off x="6629400" y="2286000"/>
            <a:ext cx="1920240" cy="2331720"/>
          </a:xfrm>
          <a:prstGeom prst="roundRect">
            <a:avLst>
              <a:gd name="adj" fmla="val 3810"/>
            </a:avLst>
          </a:prstGeom>
          <a:solidFill>
            <a:schemeClr val="bg1">
              <a:alpha val="12000"/>
            </a:schemeClr>
          </a:solidFill>
          <a:ln w="12700">
            <a:solidFill>
              <a:schemeClr val="bg1">
                <a:alpha val="12000"/>
              </a:schemeClr>
            </a:solidFill>
            <a:prstDash val="solid"/>
          </a:ln>
        </p:spPr>
      </p:sp>
      <p:sp>
        <p:nvSpPr>
          <p:cNvPr id="25" name="Text 187"/>
          <p:cNvSpPr txBox="1"/>
          <p:nvPr/>
        </p:nvSpPr>
        <p:spPr>
          <a:xfrm>
            <a:off x="6766560" y="2359152"/>
            <a:ext cx="1645920" cy="228600"/>
          </a:xfrm>
          <a:prstGeom prst="rect">
            <a:avLst/>
          </a:prstGeom>
          <a:noFill/>
          <a:ln/>
        </p:spPr>
        <p:txBody>
          <a:bodyPr wrap="square" lIns="0" tIns="0" rIns="0" bIns="0" rtlCol="0" anchor="t"/>
          <a:lstStyle/>
          <a:p>
            <a:pPr indent="0" marL="0">
              <a:buNone/>
            </a:pPr>
            <a:r>
              <a:rPr lang="en-US" sz="1200" b="1" dirty="0">
                <a:solidFill>
                  <a:schemeClr val="bg1"/>
                </a:solidFill>
              </a:rPr>
              <a:t>Active alerts</a:t>
            </a:r>
            <a:endParaRPr lang="en-US" sz="1200" dirty="0"/>
          </a:p>
        </p:txBody>
      </p:sp>
      <p:sp>
        <p:nvSpPr>
          <p:cNvPr id="26" name="Status dot 188"/>
          <p:cNvSpPr/>
          <p:nvPr/>
        </p:nvSpPr>
        <p:spPr>
          <a:xfrm>
            <a:off x="6766560" y="2743200"/>
            <a:ext cx="146304" cy="146304"/>
          </a:xfrm>
          <a:prstGeom prst="ellipse">
            <a:avLst/>
          </a:prstGeom>
          <a:solidFill>
            <a:srgbClr val="FF6B5B"/>
          </a:solidFill>
          <a:ln w="12700">
            <a:solidFill>
              <a:srgbClr val="FF6B5B"/>
            </a:solidFill>
            <a:prstDash val="solid"/>
          </a:ln>
        </p:spPr>
      </p:sp>
      <p:sp>
        <p:nvSpPr>
          <p:cNvPr id="27" name="Text 189"/>
          <p:cNvSpPr txBox="1"/>
          <p:nvPr/>
        </p:nvSpPr>
        <p:spPr>
          <a:xfrm>
            <a:off x="6995160" y="2697480"/>
            <a:ext cx="1463040" cy="201168"/>
          </a:xfrm>
          <a:prstGeom prst="rect">
            <a:avLst/>
          </a:prstGeom>
          <a:noFill/>
          <a:ln/>
        </p:spPr>
        <p:txBody>
          <a:bodyPr wrap="square" lIns="0" tIns="0" rIns="0" bIns="0" rtlCol="0" anchor="t"/>
          <a:lstStyle/>
          <a:p>
            <a:pPr indent="0" marL="0">
              <a:buNone/>
            </a:pPr>
            <a:r>
              <a:rPr lang="en-US" sz="1100" dirty="0">
                <a:solidFill>
                  <a:schemeClr val="bg2"/>
                </a:solidFill>
              </a:rPr>
              <a:t>16:30</a:t>
            </a:r>
            <a:endParaRPr lang="en-US" sz="1100" dirty="0"/>
          </a:p>
        </p:txBody>
      </p:sp>
      <p:sp>
        <p:nvSpPr>
          <p:cNvPr id="28" name="Text 190"/>
          <p:cNvSpPr txBox="1"/>
          <p:nvPr/>
        </p:nvSpPr>
        <p:spPr>
          <a:xfrm>
            <a:off x="6995160" y="2907792"/>
            <a:ext cx="1463040" cy="274320"/>
          </a:xfrm>
          <a:prstGeom prst="rect">
            <a:avLst/>
          </a:prstGeom>
          <a:noFill/>
          <a:ln/>
        </p:spPr>
        <p:txBody>
          <a:bodyPr wrap="square" lIns="0" tIns="0" rIns="0" bIns="0" rtlCol="0" anchor="t"/>
          <a:lstStyle/>
          <a:p>
            <a:pPr indent="0" marL="0">
              <a:buNone/>
            </a:pPr>
            <a:r>
              <a:rPr lang="en-US" sz="1200" b="1" dirty="0">
                <a:solidFill>
                  <a:schemeClr val="bg1"/>
                </a:solidFill>
              </a:rPr>
              <a:t>ED wait rising</a:t>
            </a:r>
            <a:endParaRPr lang="en-US" sz="1200" dirty="0"/>
          </a:p>
        </p:txBody>
      </p:sp>
      <p:sp>
        <p:nvSpPr>
          <p:cNvPr id="29" name="Status dot 191"/>
          <p:cNvSpPr/>
          <p:nvPr/>
        </p:nvSpPr>
        <p:spPr>
          <a:xfrm>
            <a:off x="6766560" y="3364992"/>
            <a:ext cx="146304" cy="146304"/>
          </a:xfrm>
          <a:prstGeom prst="ellipse">
            <a:avLst/>
          </a:prstGeom>
          <a:solidFill>
            <a:srgbClr val="F2B134"/>
          </a:solidFill>
          <a:ln w="12700">
            <a:solidFill>
              <a:srgbClr val="F2B134"/>
            </a:solidFill>
            <a:prstDash val="solid"/>
          </a:ln>
        </p:spPr>
      </p:sp>
      <p:sp>
        <p:nvSpPr>
          <p:cNvPr id="30" name="Text 192"/>
          <p:cNvSpPr txBox="1"/>
          <p:nvPr/>
        </p:nvSpPr>
        <p:spPr>
          <a:xfrm>
            <a:off x="6995160" y="3319272"/>
            <a:ext cx="1463040" cy="201168"/>
          </a:xfrm>
          <a:prstGeom prst="rect">
            <a:avLst/>
          </a:prstGeom>
          <a:noFill/>
          <a:ln/>
        </p:spPr>
        <p:txBody>
          <a:bodyPr wrap="square" lIns="0" tIns="0" rIns="0" bIns="0" rtlCol="0" anchor="t"/>
          <a:lstStyle/>
          <a:p>
            <a:pPr indent="0" marL="0">
              <a:buNone/>
            </a:pPr>
            <a:r>
              <a:rPr lang="en-US" sz="1100" dirty="0">
                <a:solidFill>
                  <a:schemeClr val="bg2"/>
                </a:solidFill>
              </a:rPr>
              <a:t>16:35</a:t>
            </a:r>
            <a:endParaRPr lang="en-US" sz="1100" dirty="0"/>
          </a:p>
        </p:txBody>
      </p:sp>
      <p:sp>
        <p:nvSpPr>
          <p:cNvPr id="31" name="Text 193"/>
          <p:cNvSpPr txBox="1"/>
          <p:nvPr/>
        </p:nvSpPr>
        <p:spPr>
          <a:xfrm>
            <a:off x="6995160" y="3529584"/>
            <a:ext cx="1463040" cy="274320"/>
          </a:xfrm>
          <a:prstGeom prst="rect">
            <a:avLst/>
          </a:prstGeom>
          <a:noFill/>
          <a:ln/>
        </p:spPr>
        <p:txBody>
          <a:bodyPr wrap="square" lIns="0" tIns="0" rIns="0" bIns="0" rtlCol="0" anchor="t"/>
          <a:lstStyle/>
          <a:p>
            <a:pPr indent="0" marL="0">
              <a:buNone/>
            </a:pPr>
            <a:r>
              <a:rPr lang="en-US" sz="1200" b="1" dirty="0">
                <a:solidFill>
                  <a:schemeClr val="bg1"/>
                </a:solidFill>
              </a:rPr>
              <a:t>5A near full</a:t>
            </a:r>
            <a:endParaRPr lang="en-US" sz="1200" dirty="0"/>
          </a:p>
        </p:txBody>
      </p:sp>
      <p:sp>
        <p:nvSpPr>
          <p:cNvPr id="32" name="Status dot 194"/>
          <p:cNvSpPr/>
          <p:nvPr/>
        </p:nvSpPr>
        <p:spPr>
          <a:xfrm>
            <a:off x="6766560" y="3986784"/>
            <a:ext cx="146304" cy="146304"/>
          </a:xfrm>
          <a:prstGeom prst="ellipse">
            <a:avLst/>
          </a:prstGeom>
          <a:solidFill>
            <a:srgbClr val="3A7CA5"/>
          </a:solidFill>
          <a:ln w="12700">
            <a:solidFill>
              <a:srgbClr val="3A7CA5"/>
            </a:solidFill>
            <a:prstDash val="solid"/>
          </a:ln>
        </p:spPr>
      </p:sp>
      <p:sp>
        <p:nvSpPr>
          <p:cNvPr id="33" name="Text 195"/>
          <p:cNvSpPr txBox="1"/>
          <p:nvPr/>
        </p:nvSpPr>
        <p:spPr>
          <a:xfrm>
            <a:off x="6995160" y="3941064"/>
            <a:ext cx="1463040" cy="201168"/>
          </a:xfrm>
          <a:prstGeom prst="rect">
            <a:avLst/>
          </a:prstGeom>
          <a:noFill/>
          <a:ln/>
        </p:spPr>
        <p:txBody>
          <a:bodyPr wrap="square" lIns="0" tIns="0" rIns="0" bIns="0" rtlCol="0" anchor="t"/>
          <a:lstStyle/>
          <a:p>
            <a:pPr indent="0" marL="0">
              <a:buNone/>
            </a:pPr>
            <a:r>
              <a:rPr lang="en-US" sz="1100" dirty="0">
                <a:solidFill>
                  <a:schemeClr val="bg2"/>
                </a:solidFill>
              </a:rPr>
              <a:t>16:40</a:t>
            </a:r>
            <a:endParaRPr lang="en-US" sz="1100" dirty="0"/>
          </a:p>
        </p:txBody>
      </p:sp>
      <p:sp>
        <p:nvSpPr>
          <p:cNvPr id="34" name="Text 196"/>
          <p:cNvSpPr txBox="1"/>
          <p:nvPr/>
        </p:nvSpPr>
        <p:spPr>
          <a:xfrm>
            <a:off x="6995160" y="4151376"/>
            <a:ext cx="1463040" cy="274320"/>
          </a:xfrm>
          <a:prstGeom prst="rect">
            <a:avLst/>
          </a:prstGeom>
          <a:noFill/>
          <a:ln/>
        </p:spPr>
        <p:txBody>
          <a:bodyPr wrap="square" lIns="0" tIns="0" rIns="0" bIns="0" rtlCol="0" anchor="t"/>
          <a:lstStyle/>
          <a:p>
            <a:pPr indent="0" marL="0">
              <a:buNone/>
            </a:pPr>
            <a:r>
              <a:rPr lang="en-US" sz="1200" b="1" dirty="0">
                <a:solidFill>
                  <a:schemeClr val="bg1"/>
                </a:solidFill>
              </a:rPr>
              <a:t>CT scanner idle</a:t>
            </a:r>
            <a:endParaRPr lang="en-US" sz="1200" dirty="0"/>
          </a:p>
        </p:txBody>
      </p:sp>
      <p:sp>
        <p:nvSpPr>
          <p:cNvPr id="35" name="Text 197"/>
          <p:cNvSpPr txBox="1"/>
          <p:nvPr/>
        </p:nvSpPr>
        <p:spPr>
          <a:xfrm>
            <a:off x="457200" y="4754880"/>
            <a:ext cx="3657600" cy="201168"/>
          </a:xfrm>
          <a:prstGeom prst="rect">
            <a:avLst/>
          </a:prstGeom>
          <a:noFill/>
          <a:ln/>
        </p:spPr>
        <p:txBody>
          <a:bodyPr wrap="square" lIns="0" tIns="0" rIns="0" bIns="0" rtlCol="0" anchor="t"/>
          <a:lstStyle/>
          <a:p>
            <a:pPr indent="0" marL="0">
              <a:buNone/>
            </a:pPr>
            <a:r>
              <a:rPr lang="en-US" sz="1100" i="1" dirty="0">
                <a:solidFill>
                  <a:schemeClr val="accent5"/>
                </a:solidFill>
              </a:rPr>
              <a:t>Illustrative mock data</a:t>
            </a:r>
            <a:endParaRPr lang="en-US" sz="11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Ward status and 4-hour outlook</a:t>
            </a:r>
            <a:endParaRPr lang="en-US" sz="3200" dirty="0"/>
          </a:p>
        </p:txBody>
      </p:sp>
      <p:graphicFrame>
        <p:nvGraphicFramePr>
          <p:cNvPr id="12" name="Ward statu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731520"/>
                <a:gridCol w="1005840"/>
                <a:gridCol w="1097280"/>
                <a:gridCol w="1371600"/>
                <a:gridCol w="1097280"/>
                <a:gridCol w="822960"/>
              </a:tblGrid>
              <a:tr h="548640">
                <a:tc>
                  <a:txBody>
                    <a:bodyPr/>
                    <a:lstStyle/>
                    <a:p>
                      <a:pPr algn="l" indent="0" marL="0">
                        <a:buNone/>
                      </a:pPr>
                      <a:r>
                        <a:rPr lang="en-US" sz="1400" b="1" dirty="0">
                          <a:solidFill>
                            <a:srgbClr val="FFFFFF"/>
                          </a:solidFill>
                        </a:rPr>
                        <a:t>Ward</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rPr>
                        <a:t>Beds</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rPr>
                        <a:t>Occupied</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rPr>
                        <a:t>Occupancy</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rPr>
                        <a:t>Due out by 20:00</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rPr>
                        <a:t>ED boarders</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rPr>
                        <a:t>Status</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0B3C49"/>
                    </a:solidFill>
                  </a:tcPr>
                </a:tc>
              </a:tr>
              <a:tr h="384048">
                <a:tc>
                  <a:txBody>
                    <a:bodyPr/>
                    <a:lstStyle/>
                    <a:p>
                      <a:pPr indent="0" marL="0">
                        <a:buNone/>
                      </a:pPr>
                      <a:r>
                        <a:rPr lang="en-US" sz="1400" b="1" dirty="0">
                          <a:solidFill>
                            <a:srgbClr val="10252B"/>
                          </a:solidFill>
                        </a:rPr>
                        <a:t>5A Medical</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24</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23</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10252B"/>
                          </a:solidFill>
                        </a:rPr>
                        <a:t>96%</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4</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6</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B3261E"/>
                          </a:solidFill>
                        </a:rPr>
                        <a:t>High</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DE0DC"/>
                    </a:solidFill>
                  </a:tcPr>
                </a:tc>
              </a:tr>
              <a:tr h="384048">
                <a:tc>
                  <a:txBody>
                    <a:bodyPr/>
                    <a:lstStyle/>
                    <a:p>
                      <a:pPr indent="0" marL="0">
                        <a:buNone/>
                      </a:pPr>
                      <a:r>
                        <a:rPr lang="en-US" sz="1400" b="1" dirty="0">
                          <a:solidFill>
                            <a:srgbClr val="10252B"/>
                          </a:solidFill>
                        </a:rPr>
                        <a:t>ICU</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16</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14</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0252B"/>
                          </a:solidFill>
                        </a:rPr>
                        <a:t>88%</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1</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1</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A5A00"/>
                          </a:solidFill>
                        </a:rPr>
                        <a:t>Watch</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CEFC9"/>
                    </a:solidFill>
                  </a:tcPr>
                </a:tc>
              </a:tr>
              <a:tr h="384048">
                <a:tc>
                  <a:txBody>
                    <a:bodyPr/>
                    <a:lstStyle/>
                    <a:p>
                      <a:pPr indent="0" marL="0">
                        <a:buNone/>
                      </a:pPr>
                      <a:r>
                        <a:rPr lang="en-US" sz="1400" b="1" dirty="0">
                          <a:solidFill>
                            <a:srgbClr val="10252B"/>
                          </a:solidFill>
                        </a:rPr>
                        <a:t>4B Cardiac step-down</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20</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17</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10252B"/>
                          </a:solidFill>
                        </a:rPr>
                        <a:t>85%</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3</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3</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8A5A00"/>
                          </a:solidFill>
                        </a:rPr>
                        <a:t>Watch</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CEFC9"/>
                    </a:solidFill>
                  </a:tcPr>
                </a:tc>
              </a:tr>
              <a:tr h="384048">
                <a:tc>
                  <a:txBody>
                    <a:bodyPr/>
                    <a:lstStyle/>
                    <a:p>
                      <a:pPr indent="0" marL="0">
                        <a:buNone/>
                      </a:pPr>
                      <a:r>
                        <a:rPr lang="en-US" sz="1400" b="1" dirty="0">
                          <a:solidFill>
                            <a:srgbClr val="10252B"/>
                          </a:solidFill>
                        </a:rPr>
                        <a:t>6A General medicine</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30</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24</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0252B"/>
                          </a:solidFill>
                        </a:rPr>
                        <a:t>80%</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5</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2</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6B2E"/>
                          </a:solidFill>
                        </a:rPr>
                        <a:t>OK</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8F0DC"/>
                    </a:solidFill>
                  </a:tcPr>
                </a:tc>
              </a:tr>
              <a:tr h="384048">
                <a:tc>
                  <a:txBody>
                    <a:bodyPr/>
                    <a:lstStyle/>
                    <a:p>
                      <a:pPr indent="0" marL="0">
                        <a:buNone/>
                      </a:pPr>
                      <a:r>
                        <a:rPr lang="en-US" sz="1400" b="1" dirty="0">
                          <a:solidFill>
                            <a:srgbClr val="10252B"/>
                          </a:solidFill>
                        </a:rPr>
                        <a:t>3A Surgical</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28</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22</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10252B"/>
                          </a:solidFill>
                        </a:rPr>
                        <a:t>79%</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4</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1</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1F6B2E"/>
                          </a:solidFill>
                        </a:rPr>
                        <a:t>OK</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8F0DC"/>
                    </a:solidFill>
                  </a:tcPr>
                </a:tc>
              </a:tr>
              <a:tr h="384048">
                <a:tc>
                  <a:txBody>
                    <a:bodyPr/>
                    <a:lstStyle/>
                    <a:p>
                      <a:pPr indent="0" marL="0">
                        <a:buNone/>
                      </a:pPr>
                      <a:r>
                        <a:rPr lang="en-US" sz="1400" b="1" dirty="0">
                          <a:solidFill>
                            <a:srgbClr val="10252B"/>
                          </a:solidFill>
                        </a:rPr>
                        <a:t>3B Orthopedics</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24</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16</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0252B"/>
                          </a:solidFill>
                        </a:rPr>
                        <a:t>67%</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3</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0252B"/>
                          </a:solidFill>
                        </a:rPr>
                        <a:t>0</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6B2E"/>
                          </a:solidFill>
                        </a:rPr>
                        <a:t>OK</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8F0DC"/>
                    </a:solidFill>
                  </a:tcPr>
                </a:tc>
              </a:tr>
              <a:tr h="384048">
                <a:tc>
                  <a:txBody>
                    <a:bodyPr/>
                    <a:lstStyle/>
                    <a:p>
                      <a:pPr indent="0" marL="0">
                        <a:buNone/>
                      </a:pPr>
                      <a:r>
                        <a:rPr lang="en-US" sz="1400" b="1" dirty="0">
                          <a:solidFill>
                            <a:srgbClr val="10252B"/>
                          </a:solidFill>
                        </a:rPr>
                        <a:t>Pediatrics</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22</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13</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10252B"/>
                          </a:solidFill>
                        </a:rPr>
                        <a:t>59%</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2</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dirty="0">
                          <a:solidFill>
                            <a:srgbClr val="10252B"/>
                          </a:solidFill>
                        </a:rPr>
                        <a:t>0</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F4F8F9"/>
                    </a:solidFill>
                  </a:tcPr>
                </a:tc>
                <a:tc>
                  <a:txBody>
                    <a:bodyPr/>
                    <a:lstStyle/>
                    <a:p>
                      <a:pPr algn="ctr" indent="0" marL="0">
                        <a:buNone/>
                      </a:pPr>
                      <a:r>
                        <a:rPr lang="en-US" sz="1400" b="1" dirty="0">
                          <a:solidFill>
                            <a:srgbClr val="1F6B2E"/>
                          </a:solidFill>
                        </a:rPr>
                        <a:t>OK</a:t>
                      </a:r>
                      <a:endParaRPr lang="en-US" sz="1400" dirty="0"/>
                    </a:p>
                  </a:txBody>
                  <a:tcPr marL="91440" marR="45720" marT="0" marB="0" anchor="ctr">
                    <a:lnL w="6350" cap="flat" cmpd="sng" algn="ctr">
                      <a:solidFill>
                        <a:srgbClr val="D5E0E3"/>
                      </a:solidFill>
                      <a:prstDash val="solid"/>
                      <a:round/>
                      <a:headEnd type="none" w="med" len="med"/>
                      <a:tailEnd type="none" w="med" len="med"/>
                    </a:lnL>
                    <a:lnR w="6350" cap="flat" cmpd="sng" algn="ctr">
                      <a:solidFill>
                        <a:srgbClr val="D5E0E3"/>
                      </a:solidFill>
                      <a:prstDash val="solid"/>
                      <a:round/>
                      <a:headEnd type="none" w="med" len="med"/>
                      <a:tailEnd type="none" w="med" len="med"/>
                    </a:lnR>
                    <a:lnT w="6350" cap="flat" cmpd="sng" algn="ctr">
                      <a:solidFill>
                        <a:srgbClr val="D5E0E3"/>
                      </a:solidFill>
                      <a:prstDash val="solid"/>
                      <a:round/>
                      <a:headEnd type="none" w="med" len="med"/>
                      <a:tailEnd type="none" w="med" len="med"/>
                    </a:lnT>
                    <a:lnB w="6350" cap="flat" cmpd="sng" algn="ctr">
                      <a:solidFill>
                        <a:srgbClr val="D5E0E3"/>
                      </a:solidFill>
                      <a:prstDash val="solid"/>
                      <a:round/>
                      <a:headEnd type="none" w="med" len="med"/>
                      <a:tailEnd type="none" w="med" len="med"/>
                    </a:lnB>
                    <a:solidFill>
                      <a:srgbClr val="D8F0DC"/>
                    </a:solidFill>
                  </a:tcPr>
                </a:tc>
              </a:tr>
            </a:tbl>
          </a:graphicData>
        </a:graphic>
      </p:graphicFrame>
      <p:sp>
        <p:nvSpPr>
          <p:cNvPr id="5" name="Text 198"/>
          <p:cNvSpPr txBox="1"/>
          <p:nvPr/>
        </p:nvSpPr>
        <p:spPr>
          <a:xfrm>
            <a:off x="457200" y="4526280"/>
            <a:ext cx="5486400" cy="201168"/>
          </a:xfrm>
          <a:prstGeom prst="rect">
            <a:avLst/>
          </a:prstGeom>
          <a:noFill/>
          <a:ln/>
        </p:spPr>
        <p:txBody>
          <a:bodyPr wrap="square" lIns="0" tIns="0" rIns="0" bIns="0" rtlCol="0" anchor="t"/>
          <a:lstStyle/>
          <a:p>
            <a:pPr indent="0" marL="0">
              <a:buNone/>
            </a:pPr>
            <a:r>
              <a:rPr lang="en-US" sz="1100" i="1" dirty="0">
                <a:solidFill>
                  <a:schemeClr val="accent5"/>
                </a:solidFill>
              </a:rPr>
              <a:t>Simulated data for a 450-bed hospital (selected wards shown)</a:t>
            </a:r>
            <a:endParaRPr lang="en-US" sz="11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Decision support, not decision making</a:t>
            </a:r>
            <a:endParaRPr lang="en-US" sz="3200" dirty="0"/>
          </a:p>
        </p:txBody>
      </p:sp>
      <p:sp>
        <p:nvSpPr>
          <p:cNvPr id="4" name="Card 199"/>
          <p:cNvSpPr/>
          <p:nvPr/>
        </p:nvSpPr>
        <p:spPr>
          <a:xfrm>
            <a:off x="457200" y="1234440"/>
            <a:ext cx="3017520" cy="3291840"/>
          </a:xfrm>
          <a:prstGeom prst="roundRect">
            <a:avLst>
              <a:gd name="adj" fmla="val 3030"/>
            </a:avLst>
          </a:prstGeom>
          <a:solidFill>
            <a:schemeClr val="tx2"/>
          </a:solidFill>
          <a:ln w="12700">
            <a:solidFill>
              <a:schemeClr val="tx2"/>
            </a:solidFill>
            <a:prstDash val="solid"/>
          </a:ln>
        </p:spPr>
      </p:sp>
      <p:pic>
        <p:nvPicPr>
          <p:cNvPr id="5" name="Icon 200" descr="shield">    </p:cNvPr>
          <p:cNvPicPr>
            <a:picLocks noChangeAspect="1"/>
          </p:cNvPicPr>
          <p:nvPr/>
        </p:nvPicPr>
        <p:blipFill>
          <a:blip r:embed="rId1"/>
          <a:stretch>
            <a:fillRect/>
          </a:stretch>
        </p:blipFill>
        <p:spPr>
          <a:xfrm>
            <a:off x="731520" y="1508760"/>
            <a:ext cx="640080" cy="640080"/>
          </a:xfrm>
          <a:prstGeom prst="rect">
            <a:avLst/>
          </a:prstGeom>
        </p:spPr>
      </p:pic>
      <p:sp>
        <p:nvSpPr>
          <p:cNvPr id="6" name="Text 201"/>
          <p:cNvSpPr txBox="1"/>
          <p:nvPr/>
        </p:nvSpPr>
        <p:spPr>
          <a:xfrm>
            <a:off x="731520" y="2377440"/>
            <a:ext cx="2468880" cy="192024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Every recommendation can be explained, overridden and audited</a:t>
            </a:r>
            <a:endParaRPr lang="en-US" sz="2200" dirty="0"/>
          </a:p>
        </p:txBody>
      </p:sp>
      <p:sp>
        <p:nvSpPr>
          <p:cNvPr id="7" name="Card 202"/>
          <p:cNvSpPr/>
          <p:nvPr/>
        </p:nvSpPr>
        <p:spPr>
          <a:xfrm>
            <a:off x="3749040" y="1234440"/>
            <a:ext cx="4937760" cy="731520"/>
          </a:xfrm>
          <a:prstGeom prst="roundRect">
            <a:avLst>
              <a:gd name="adj" fmla="val 12500"/>
            </a:avLst>
          </a:prstGeom>
          <a:solidFill>
            <a:schemeClr val="bg2"/>
          </a:solidFill>
          <a:ln w="12700">
            <a:solidFill>
              <a:schemeClr val="bg2"/>
            </a:solidFill>
            <a:prstDash val="solid"/>
          </a:ln>
        </p:spPr>
      </p:sp>
      <p:sp>
        <p:nvSpPr>
          <p:cNvPr id="8" name="Icon circle 203"/>
          <p:cNvSpPr/>
          <p:nvPr/>
        </p:nvSpPr>
        <p:spPr>
          <a:xfrm>
            <a:off x="3931920" y="1371600"/>
            <a:ext cx="457200" cy="457200"/>
          </a:xfrm>
          <a:prstGeom prst="ellipse">
            <a:avLst/>
          </a:prstGeom>
          <a:solidFill>
            <a:schemeClr val="accent2"/>
          </a:solidFill>
          <a:ln w="12700">
            <a:solidFill>
              <a:schemeClr val="accent2"/>
            </a:solidFill>
            <a:prstDash val="solid"/>
          </a:ln>
        </p:spPr>
      </p:sp>
      <p:pic>
        <p:nvPicPr>
          <p:cNvPr id="9" name="Icon 204" descr="icon">    </p:cNvPr>
          <p:cNvPicPr>
            <a:picLocks noChangeAspect="1"/>
          </p:cNvPicPr>
          <p:nvPr/>
        </p:nvPicPr>
        <p:blipFill>
          <a:blip r:embed="rId2"/>
          <a:stretch>
            <a:fillRect/>
          </a:stretch>
        </p:blipFill>
        <p:spPr>
          <a:xfrm>
            <a:off x="4055364" y="1495044"/>
            <a:ext cx="210312" cy="210312"/>
          </a:xfrm>
          <a:prstGeom prst="rect">
            <a:avLst/>
          </a:prstGeom>
        </p:spPr>
      </p:pic>
      <p:sp>
        <p:nvSpPr>
          <p:cNvPr id="10" name="Text 205"/>
          <p:cNvSpPr txBox="1"/>
          <p:nvPr/>
        </p:nvSpPr>
        <p:spPr>
          <a:xfrm>
            <a:off x="4617720" y="1307592"/>
            <a:ext cx="3931920" cy="274320"/>
          </a:xfrm>
          <a:prstGeom prst="rect">
            <a:avLst/>
          </a:prstGeom>
          <a:noFill/>
          <a:ln/>
        </p:spPr>
        <p:txBody>
          <a:bodyPr wrap="square" lIns="0" tIns="0" rIns="0" bIns="0" rtlCol="0" anchor="t"/>
          <a:lstStyle/>
          <a:p>
            <a:pPr indent="0" marL="0">
              <a:buNone/>
            </a:pPr>
            <a:r>
              <a:rPr lang="en-US" sz="1600" b="1" dirty="0">
                <a:solidFill>
                  <a:schemeClr val="tx2"/>
                </a:solidFill>
              </a:rPr>
              <a:t>Clinical priority first</a:t>
            </a:r>
            <a:endParaRPr lang="en-US" sz="1600" dirty="0"/>
          </a:p>
        </p:txBody>
      </p:sp>
      <p:sp>
        <p:nvSpPr>
          <p:cNvPr id="11" name="Text 206"/>
          <p:cNvSpPr txBox="1"/>
          <p:nvPr/>
        </p:nvSpPr>
        <p:spPr>
          <a:xfrm>
            <a:off x="4617720" y="1600200"/>
            <a:ext cx="3931920" cy="320040"/>
          </a:xfrm>
          <a:prstGeom prst="rect">
            <a:avLst/>
          </a:prstGeom>
          <a:noFill/>
          <a:ln/>
        </p:spPr>
        <p:txBody>
          <a:bodyPr wrap="square" lIns="0" tIns="0" rIns="0" bIns="0" rtlCol="0" anchor="t"/>
          <a:lstStyle/>
          <a:p>
            <a:pPr indent="0" marL="0">
              <a:buNone/>
            </a:pPr>
            <a:r>
              <a:rPr lang="en-US" sz="1400" dirty="0">
                <a:solidFill>
                  <a:schemeClr val="tx1"/>
                </a:solidFill>
              </a:rPr>
              <a:t>Triage acuity is never downgraded to free capacity.</a:t>
            </a:r>
            <a:endParaRPr lang="en-US" sz="1400" dirty="0"/>
          </a:p>
        </p:txBody>
      </p:sp>
      <p:sp>
        <p:nvSpPr>
          <p:cNvPr id="12" name="Card 207"/>
          <p:cNvSpPr/>
          <p:nvPr/>
        </p:nvSpPr>
        <p:spPr>
          <a:xfrm>
            <a:off x="3749040" y="2084832"/>
            <a:ext cx="4937760" cy="731520"/>
          </a:xfrm>
          <a:prstGeom prst="roundRect">
            <a:avLst>
              <a:gd name="adj" fmla="val 12500"/>
            </a:avLst>
          </a:prstGeom>
          <a:solidFill>
            <a:schemeClr val="bg2"/>
          </a:solidFill>
          <a:ln w="12700">
            <a:solidFill>
              <a:schemeClr val="bg2"/>
            </a:solidFill>
            <a:prstDash val="solid"/>
          </a:ln>
        </p:spPr>
      </p:sp>
      <p:sp>
        <p:nvSpPr>
          <p:cNvPr id="13" name="Icon circle 208"/>
          <p:cNvSpPr/>
          <p:nvPr/>
        </p:nvSpPr>
        <p:spPr>
          <a:xfrm>
            <a:off x="3931920" y="2221992"/>
            <a:ext cx="457200" cy="457200"/>
          </a:xfrm>
          <a:prstGeom prst="ellipse">
            <a:avLst/>
          </a:prstGeom>
          <a:solidFill>
            <a:schemeClr val="accent1"/>
          </a:solidFill>
          <a:ln w="12700">
            <a:solidFill>
              <a:schemeClr val="accent1"/>
            </a:solidFill>
            <a:prstDash val="solid"/>
          </a:ln>
        </p:spPr>
      </p:sp>
      <p:pic>
        <p:nvPicPr>
          <p:cNvPr id="14" name="Icon 209" descr="icon">    </p:cNvPr>
          <p:cNvPicPr>
            <a:picLocks noChangeAspect="1"/>
          </p:cNvPicPr>
          <p:nvPr/>
        </p:nvPicPr>
        <p:blipFill>
          <a:blip r:embed="rId3"/>
          <a:stretch>
            <a:fillRect/>
          </a:stretch>
        </p:blipFill>
        <p:spPr>
          <a:xfrm>
            <a:off x="4055364" y="2345436"/>
            <a:ext cx="210312" cy="210312"/>
          </a:xfrm>
          <a:prstGeom prst="rect">
            <a:avLst/>
          </a:prstGeom>
        </p:spPr>
      </p:pic>
      <p:sp>
        <p:nvSpPr>
          <p:cNvPr id="15" name="Text 210"/>
          <p:cNvSpPr txBox="1"/>
          <p:nvPr/>
        </p:nvSpPr>
        <p:spPr>
          <a:xfrm>
            <a:off x="4617720" y="2157984"/>
            <a:ext cx="3931920" cy="274320"/>
          </a:xfrm>
          <a:prstGeom prst="rect">
            <a:avLst/>
          </a:prstGeom>
          <a:noFill/>
          <a:ln/>
        </p:spPr>
        <p:txBody>
          <a:bodyPr wrap="square" lIns="0" tIns="0" rIns="0" bIns="0" rtlCol="0" anchor="t"/>
          <a:lstStyle/>
          <a:p>
            <a:pPr indent="0" marL="0">
              <a:buNone/>
            </a:pPr>
            <a:r>
              <a:rPr lang="en-US" sz="1600" b="1" dirty="0">
                <a:solidFill>
                  <a:schemeClr val="tx2"/>
                </a:solidFill>
              </a:rPr>
              <a:t>Human in the loop</a:t>
            </a:r>
            <a:endParaRPr lang="en-US" sz="1600" dirty="0"/>
          </a:p>
        </p:txBody>
      </p:sp>
      <p:sp>
        <p:nvSpPr>
          <p:cNvPr id="16" name="Text 211"/>
          <p:cNvSpPr txBox="1"/>
          <p:nvPr/>
        </p:nvSpPr>
        <p:spPr>
          <a:xfrm>
            <a:off x="4617720" y="2450592"/>
            <a:ext cx="3931920" cy="320040"/>
          </a:xfrm>
          <a:prstGeom prst="rect">
            <a:avLst/>
          </a:prstGeom>
          <a:noFill/>
          <a:ln/>
        </p:spPr>
        <p:txBody>
          <a:bodyPr wrap="square" lIns="0" tIns="0" rIns="0" bIns="0" rtlCol="0" anchor="t"/>
          <a:lstStyle/>
          <a:p>
            <a:pPr indent="0" marL="0">
              <a:buNone/>
            </a:pPr>
            <a:r>
              <a:rPr lang="en-US" sz="1400" dirty="0">
                <a:solidFill>
                  <a:schemeClr val="tx1"/>
                </a:solidFill>
              </a:rPr>
              <a:t>Staff approve or override every action.</a:t>
            </a:r>
            <a:endParaRPr lang="en-US" sz="1400" dirty="0"/>
          </a:p>
        </p:txBody>
      </p:sp>
      <p:sp>
        <p:nvSpPr>
          <p:cNvPr id="17" name="Card 212"/>
          <p:cNvSpPr/>
          <p:nvPr/>
        </p:nvSpPr>
        <p:spPr>
          <a:xfrm>
            <a:off x="3749040" y="2935224"/>
            <a:ext cx="4937760" cy="731520"/>
          </a:xfrm>
          <a:prstGeom prst="roundRect">
            <a:avLst>
              <a:gd name="adj" fmla="val 12500"/>
            </a:avLst>
          </a:prstGeom>
          <a:solidFill>
            <a:schemeClr val="bg2"/>
          </a:solidFill>
          <a:ln w="12700">
            <a:solidFill>
              <a:schemeClr val="bg2"/>
            </a:solidFill>
            <a:prstDash val="solid"/>
          </a:ln>
        </p:spPr>
      </p:sp>
      <p:sp>
        <p:nvSpPr>
          <p:cNvPr id="18" name="Icon circle 213"/>
          <p:cNvSpPr/>
          <p:nvPr/>
        </p:nvSpPr>
        <p:spPr>
          <a:xfrm>
            <a:off x="3931920" y="3072384"/>
            <a:ext cx="457200" cy="457200"/>
          </a:xfrm>
          <a:prstGeom prst="ellipse">
            <a:avLst/>
          </a:prstGeom>
          <a:solidFill>
            <a:schemeClr val="accent4"/>
          </a:solidFill>
          <a:ln w="12700">
            <a:solidFill>
              <a:schemeClr val="accent4"/>
            </a:solidFill>
            <a:prstDash val="solid"/>
          </a:ln>
        </p:spPr>
      </p:sp>
      <p:pic>
        <p:nvPicPr>
          <p:cNvPr id="19" name="Icon 214" descr="icon">    </p:cNvPr>
          <p:cNvPicPr>
            <a:picLocks noChangeAspect="1"/>
          </p:cNvPicPr>
          <p:nvPr/>
        </p:nvPicPr>
        <p:blipFill>
          <a:blip r:embed="rId4"/>
          <a:stretch>
            <a:fillRect/>
          </a:stretch>
        </p:blipFill>
        <p:spPr>
          <a:xfrm>
            <a:off x="4055364" y="3195828"/>
            <a:ext cx="210312" cy="210312"/>
          </a:xfrm>
          <a:prstGeom prst="rect">
            <a:avLst/>
          </a:prstGeom>
        </p:spPr>
      </p:pic>
      <p:sp>
        <p:nvSpPr>
          <p:cNvPr id="20" name="Text 215"/>
          <p:cNvSpPr txBox="1"/>
          <p:nvPr/>
        </p:nvSpPr>
        <p:spPr>
          <a:xfrm>
            <a:off x="4617720" y="3008376"/>
            <a:ext cx="3931920" cy="274320"/>
          </a:xfrm>
          <a:prstGeom prst="rect">
            <a:avLst/>
          </a:prstGeom>
          <a:noFill/>
          <a:ln/>
        </p:spPr>
        <p:txBody>
          <a:bodyPr wrap="square" lIns="0" tIns="0" rIns="0" bIns="0" rtlCol="0" anchor="t"/>
          <a:lstStyle/>
          <a:p>
            <a:pPr indent="0" marL="0">
              <a:buNone/>
            </a:pPr>
            <a:r>
              <a:rPr lang="en-US" sz="1600" b="1" dirty="0">
                <a:solidFill>
                  <a:schemeClr val="tx2"/>
                </a:solidFill>
              </a:rPr>
              <a:t>Explainable by default</a:t>
            </a:r>
            <a:endParaRPr lang="en-US" sz="1600" dirty="0"/>
          </a:p>
        </p:txBody>
      </p:sp>
      <p:sp>
        <p:nvSpPr>
          <p:cNvPr id="21" name="Text 216"/>
          <p:cNvSpPr txBox="1"/>
          <p:nvPr/>
        </p:nvSpPr>
        <p:spPr>
          <a:xfrm>
            <a:off x="4617720" y="3300984"/>
            <a:ext cx="3931920" cy="320040"/>
          </a:xfrm>
          <a:prstGeom prst="rect">
            <a:avLst/>
          </a:prstGeom>
          <a:noFill/>
          <a:ln/>
        </p:spPr>
        <p:txBody>
          <a:bodyPr wrap="square" lIns="0" tIns="0" rIns="0" bIns="0" rtlCol="0" anchor="t"/>
          <a:lstStyle/>
          <a:p>
            <a:pPr indent="0" marL="0">
              <a:buNone/>
            </a:pPr>
            <a:r>
              <a:rPr lang="en-US" sz="1400" dirty="0">
                <a:solidFill>
                  <a:schemeClr val="tx1"/>
                </a:solidFill>
              </a:rPr>
              <a:t>Each suggestion shows the data behind it.</a:t>
            </a:r>
            <a:endParaRPr lang="en-US" sz="1400" dirty="0"/>
          </a:p>
        </p:txBody>
      </p:sp>
      <p:sp>
        <p:nvSpPr>
          <p:cNvPr id="22" name="Card 217"/>
          <p:cNvSpPr/>
          <p:nvPr/>
        </p:nvSpPr>
        <p:spPr>
          <a:xfrm>
            <a:off x="3749040" y="3785616"/>
            <a:ext cx="4937760" cy="731520"/>
          </a:xfrm>
          <a:prstGeom prst="roundRect">
            <a:avLst>
              <a:gd name="adj" fmla="val 12500"/>
            </a:avLst>
          </a:prstGeom>
          <a:solidFill>
            <a:schemeClr val="bg2"/>
          </a:solidFill>
          <a:ln w="12700">
            <a:solidFill>
              <a:schemeClr val="bg2"/>
            </a:solidFill>
            <a:prstDash val="solid"/>
          </a:ln>
        </p:spPr>
      </p:sp>
      <p:sp>
        <p:nvSpPr>
          <p:cNvPr id="23" name="Icon circle 218"/>
          <p:cNvSpPr/>
          <p:nvPr/>
        </p:nvSpPr>
        <p:spPr>
          <a:xfrm>
            <a:off x="3931920" y="3922776"/>
            <a:ext cx="457200" cy="457200"/>
          </a:xfrm>
          <a:prstGeom prst="ellipse">
            <a:avLst/>
          </a:prstGeom>
          <a:solidFill>
            <a:schemeClr val="accent3"/>
          </a:solidFill>
          <a:ln w="12700">
            <a:solidFill>
              <a:schemeClr val="accent3"/>
            </a:solidFill>
            <a:prstDash val="solid"/>
          </a:ln>
        </p:spPr>
      </p:sp>
      <p:pic>
        <p:nvPicPr>
          <p:cNvPr id="24" name="Icon 219" descr="icon">    </p:cNvPr>
          <p:cNvPicPr>
            <a:picLocks noChangeAspect="1"/>
          </p:cNvPicPr>
          <p:nvPr/>
        </p:nvPicPr>
        <p:blipFill>
          <a:blip r:embed="rId5"/>
          <a:stretch>
            <a:fillRect/>
          </a:stretch>
        </p:blipFill>
        <p:spPr>
          <a:xfrm>
            <a:off x="4055364" y="4046220"/>
            <a:ext cx="210312" cy="210312"/>
          </a:xfrm>
          <a:prstGeom prst="rect">
            <a:avLst/>
          </a:prstGeom>
        </p:spPr>
      </p:pic>
      <p:sp>
        <p:nvSpPr>
          <p:cNvPr id="25" name="Text 220"/>
          <p:cNvSpPr txBox="1"/>
          <p:nvPr/>
        </p:nvSpPr>
        <p:spPr>
          <a:xfrm>
            <a:off x="4617720" y="3858768"/>
            <a:ext cx="3931920" cy="274320"/>
          </a:xfrm>
          <a:prstGeom prst="rect">
            <a:avLst/>
          </a:prstGeom>
          <a:noFill/>
          <a:ln/>
        </p:spPr>
        <p:txBody>
          <a:bodyPr wrap="square" lIns="0" tIns="0" rIns="0" bIns="0" rtlCol="0" anchor="t"/>
          <a:lstStyle/>
          <a:p>
            <a:pPr indent="0" marL="0">
              <a:buNone/>
            </a:pPr>
            <a:r>
              <a:rPr lang="en-US" sz="1600" b="1" dirty="0">
                <a:solidFill>
                  <a:schemeClr val="tx2"/>
                </a:solidFill>
              </a:rPr>
              <a:t>Privacy and audit</a:t>
            </a:r>
            <a:endParaRPr lang="en-US" sz="1600" dirty="0"/>
          </a:p>
        </p:txBody>
      </p:sp>
      <p:sp>
        <p:nvSpPr>
          <p:cNvPr id="26" name="Text 221"/>
          <p:cNvSpPr txBox="1"/>
          <p:nvPr/>
        </p:nvSpPr>
        <p:spPr>
          <a:xfrm>
            <a:off x="4617720" y="4151376"/>
            <a:ext cx="3931920" cy="320040"/>
          </a:xfrm>
          <a:prstGeom prst="rect">
            <a:avLst/>
          </a:prstGeom>
          <a:noFill/>
          <a:ln/>
        </p:spPr>
        <p:txBody>
          <a:bodyPr wrap="square" lIns="0" tIns="0" rIns="0" bIns="0" rtlCol="0" anchor="t"/>
          <a:lstStyle/>
          <a:p>
            <a:pPr indent="0" marL="0">
              <a:buNone/>
            </a:pPr>
            <a:r>
              <a:rPr lang="en-US" sz="1400" dirty="0">
                <a:solidFill>
                  <a:schemeClr val="tx1"/>
                </a:solidFill>
              </a:rPr>
              <a:t>Role-based access, anonymized data, full logs.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Prototype scope and demo flow</a:t>
            </a:r>
            <a:endParaRPr lang="en-US" sz="3200" dirty="0"/>
          </a:p>
        </p:txBody>
      </p:sp>
      <p:sp>
        <p:nvSpPr>
          <p:cNvPr id="4" name="Text 222"/>
          <p:cNvSpPr txBox="1"/>
          <p:nvPr/>
        </p:nvSpPr>
        <p:spPr>
          <a:xfrm>
            <a:off x="457200" y="1188720"/>
            <a:ext cx="3931920" cy="320040"/>
          </a:xfrm>
          <a:prstGeom prst="rect">
            <a:avLst/>
          </a:prstGeom>
          <a:noFill/>
          <a:ln/>
        </p:spPr>
        <p:txBody>
          <a:bodyPr wrap="square" lIns="0" tIns="0" rIns="0" bIns="0" rtlCol="0" anchor="t"/>
          <a:lstStyle/>
          <a:p>
            <a:pPr indent="0" marL="0">
              <a:buNone/>
            </a:pPr>
            <a:r>
              <a:rPr lang="en-US" sz="1700" b="1" dirty="0">
                <a:solidFill>
                  <a:schemeClr val="tx2"/>
                </a:solidFill>
              </a:rPr>
              <a:t>Tech stack</a:t>
            </a:r>
            <a:endParaRPr lang="en-US" sz="1700" dirty="0"/>
          </a:p>
        </p:txBody>
      </p:sp>
      <p:sp>
        <p:nvSpPr>
          <p:cNvPr id="5" name="Chip 223"/>
          <p:cNvSpPr/>
          <p:nvPr/>
        </p:nvSpPr>
        <p:spPr>
          <a:xfrm>
            <a:off x="457200" y="1691640"/>
            <a:ext cx="1874520" cy="438912"/>
          </a:xfrm>
          <a:prstGeom prst="roundRect">
            <a:avLst>
              <a:gd name="adj" fmla="val 50000"/>
            </a:avLst>
          </a:prstGeom>
          <a:solidFill>
            <a:schemeClr val="bg2"/>
          </a:solidFill>
          <a:ln w="12700">
            <a:solidFill>
              <a:schemeClr val="bg2"/>
            </a:solidFill>
            <a:prstDash val="solid"/>
          </a:ln>
        </p:spPr>
      </p:sp>
      <p:sp>
        <p:nvSpPr>
          <p:cNvPr id="6" name="Text 224"/>
          <p:cNvSpPr txBox="1"/>
          <p:nvPr/>
        </p:nvSpPr>
        <p:spPr>
          <a:xfrm>
            <a:off x="457200" y="1691640"/>
            <a:ext cx="1874520" cy="438912"/>
          </a:xfrm>
          <a:prstGeom prst="rect">
            <a:avLst/>
          </a:prstGeom>
          <a:noFill/>
          <a:ln/>
        </p:spPr>
        <p:txBody>
          <a:bodyPr wrap="square" lIns="0" tIns="0" rIns="0" bIns="0" rtlCol="0" anchor="ctr"/>
          <a:lstStyle/>
          <a:p>
            <a:pPr algn="ctr" indent="0" marL="0">
              <a:buNone/>
            </a:pPr>
            <a:r>
              <a:rPr lang="en-US" sz="1300" b="1" dirty="0">
                <a:solidFill>
                  <a:schemeClr val="tx2"/>
                </a:solidFill>
              </a:rPr>
              <a:t>Python + FastAPI</a:t>
            </a:r>
            <a:endParaRPr lang="en-US" sz="1300" dirty="0"/>
          </a:p>
        </p:txBody>
      </p:sp>
      <p:sp>
        <p:nvSpPr>
          <p:cNvPr id="7" name="Chip 225"/>
          <p:cNvSpPr/>
          <p:nvPr/>
        </p:nvSpPr>
        <p:spPr>
          <a:xfrm>
            <a:off x="2468880" y="1691640"/>
            <a:ext cx="1874520" cy="438912"/>
          </a:xfrm>
          <a:prstGeom prst="roundRect">
            <a:avLst>
              <a:gd name="adj" fmla="val 50000"/>
            </a:avLst>
          </a:prstGeom>
          <a:solidFill>
            <a:schemeClr val="bg2"/>
          </a:solidFill>
          <a:ln w="12700">
            <a:solidFill>
              <a:schemeClr val="bg2"/>
            </a:solidFill>
            <a:prstDash val="solid"/>
          </a:ln>
        </p:spPr>
      </p:sp>
      <p:sp>
        <p:nvSpPr>
          <p:cNvPr id="8" name="Text 226"/>
          <p:cNvSpPr txBox="1"/>
          <p:nvPr/>
        </p:nvSpPr>
        <p:spPr>
          <a:xfrm>
            <a:off x="2468880" y="1691640"/>
            <a:ext cx="1874520" cy="438912"/>
          </a:xfrm>
          <a:prstGeom prst="rect">
            <a:avLst/>
          </a:prstGeom>
          <a:noFill/>
          <a:ln/>
        </p:spPr>
        <p:txBody>
          <a:bodyPr wrap="square" lIns="0" tIns="0" rIns="0" bIns="0" rtlCol="0" anchor="ctr"/>
          <a:lstStyle/>
          <a:p>
            <a:pPr algn="ctr" indent="0" marL="0">
              <a:buNone/>
            </a:pPr>
            <a:r>
              <a:rPr lang="en-US" sz="1300" b="1" dirty="0">
                <a:solidFill>
                  <a:schemeClr val="tx2"/>
                </a:solidFill>
              </a:rPr>
              <a:t>scikit-learn / Prophet</a:t>
            </a:r>
            <a:endParaRPr lang="en-US" sz="1300" dirty="0"/>
          </a:p>
        </p:txBody>
      </p:sp>
      <p:sp>
        <p:nvSpPr>
          <p:cNvPr id="9" name="Chip 227"/>
          <p:cNvSpPr/>
          <p:nvPr/>
        </p:nvSpPr>
        <p:spPr>
          <a:xfrm>
            <a:off x="457200" y="2258568"/>
            <a:ext cx="1874520" cy="438912"/>
          </a:xfrm>
          <a:prstGeom prst="roundRect">
            <a:avLst>
              <a:gd name="adj" fmla="val 50000"/>
            </a:avLst>
          </a:prstGeom>
          <a:solidFill>
            <a:schemeClr val="bg2"/>
          </a:solidFill>
          <a:ln w="12700">
            <a:solidFill>
              <a:schemeClr val="bg2"/>
            </a:solidFill>
            <a:prstDash val="solid"/>
          </a:ln>
        </p:spPr>
      </p:sp>
      <p:sp>
        <p:nvSpPr>
          <p:cNvPr id="10" name="Text 228"/>
          <p:cNvSpPr txBox="1"/>
          <p:nvPr/>
        </p:nvSpPr>
        <p:spPr>
          <a:xfrm>
            <a:off x="457200" y="2258568"/>
            <a:ext cx="1874520" cy="438912"/>
          </a:xfrm>
          <a:prstGeom prst="rect">
            <a:avLst/>
          </a:prstGeom>
          <a:noFill/>
          <a:ln/>
        </p:spPr>
        <p:txBody>
          <a:bodyPr wrap="square" lIns="0" tIns="0" rIns="0" bIns="0" rtlCol="0" anchor="ctr"/>
          <a:lstStyle/>
          <a:p>
            <a:pPr algn="ctr" indent="0" marL="0">
              <a:buNone/>
            </a:pPr>
            <a:r>
              <a:rPr lang="en-US" sz="1300" b="1" dirty="0">
                <a:solidFill>
                  <a:schemeClr val="tx2"/>
                </a:solidFill>
              </a:rPr>
              <a:t>OR-Tools optimizer</a:t>
            </a:r>
            <a:endParaRPr lang="en-US" sz="1300" dirty="0"/>
          </a:p>
        </p:txBody>
      </p:sp>
      <p:sp>
        <p:nvSpPr>
          <p:cNvPr id="11" name="Chip 229"/>
          <p:cNvSpPr/>
          <p:nvPr/>
        </p:nvSpPr>
        <p:spPr>
          <a:xfrm>
            <a:off x="2468880" y="2258568"/>
            <a:ext cx="1874520" cy="438912"/>
          </a:xfrm>
          <a:prstGeom prst="roundRect">
            <a:avLst>
              <a:gd name="adj" fmla="val 50000"/>
            </a:avLst>
          </a:prstGeom>
          <a:solidFill>
            <a:schemeClr val="bg2"/>
          </a:solidFill>
          <a:ln w="12700">
            <a:solidFill>
              <a:schemeClr val="bg2"/>
            </a:solidFill>
            <a:prstDash val="solid"/>
          </a:ln>
        </p:spPr>
      </p:sp>
      <p:sp>
        <p:nvSpPr>
          <p:cNvPr id="12" name="Text 230"/>
          <p:cNvSpPr txBox="1"/>
          <p:nvPr/>
        </p:nvSpPr>
        <p:spPr>
          <a:xfrm>
            <a:off x="2468880" y="2258568"/>
            <a:ext cx="1874520" cy="438912"/>
          </a:xfrm>
          <a:prstGeom prst="rect">
            <a:avLst/>
          </a:prstGeom>
          <a:noFill/>
          <a:ln/>
        </p:spPr>
        <p:txBody>
          <a:bodyPr wrap="square" lIns="0" tIns="0" rIns="0" bIns="0" rtlCol="0" anchor="ctr"/>
          <a:lstStyle/>
          <a:p>
            <a:pPr algn="ctr" indent="0" marL="0">
              <a:buNone/>
            </a:pPr>
            <a:r>
              <a:rPr lang="en-US" sz="1300" b="1" dirty="0">
                <a:solidFill>
                  <a:schemeClr val="tx2"/>
                </a:solidFill>
              </a:rPr>
              <a:t>PostgreSQL</a:t>
            </a:r>
            <a:endParaRPr lang="en-US" sz="1300" dirty="0"/>
          </a:p>
        </p:txBody>
      </p:sp>
      <p:sp>
        <p:nvSpPr>
          <p:cNvPr id="13" name="Chip 231"/>
          <p:cNvSpPr/>
          <p:nvPr/>
        </p:nvSpPr>
        <p:spPr>
          <a:xfrm>
            <a:off x="457200" y="2825496"/>
            <a:ext cx="1874520" cy="438912"/>
          </a:xfrm>
          <a:prstGeom prst="roundRect">
            <a:avLst>
              <a:gd name="adj" fmla="val 50000"/>
            </a:avLst>
          </a:prstGeom>
          <a:solidFill>
            <a:schemeClr val="bg2"/>
          </a:solidFill>
          <a:ln w="12700">
            <a:solidFill>
              <a:schemeClr val="bg2"/>
            </a:solidFill>
            <a:prstDash val="solid"/>
          </a:ln>
        </p:spPr>
      </p:sp>
      <p:sp>
        <p:nvSpPr>
          <p:cNvPr id="14" name="Text 232"/>
          <p:cNvSpPr txBox="1"/>
          <p:nvPr/>
        </p:nvSpPr>
        <p:spPr>
          <a:xfrm>
            <a:off x="457200" y="2825496"/>
            <a:ext cx="1874520" cy="438912"/>
          </a:xfrm>
          <a:prstGeom prst="rect">
            <a:avLst/>
          </a:prstGeom>
          <a:noFill/>
          <a:ln/>
        </p:spPr>
        <p:txBody>
          <a:bodyPr wrap="square" lIns="0" tIns="0" rIns="0" bIns="0" rtlCol="0" anchor="ctr"/>
          <a:lstStyle/>
          <a:p>
            <a:pPr algn="ctr" indent="0" marL="0">
              <a:buNone/>
            </a:pPr>
            <a:r>
              <a:rPr lang="en-US" sz="1300" b="1" dirty="0">
                <a:solidFill>
                  <a:schemeClr val="tx2"/>
                </a:solidFill>
              </a:rPr>
              <a:t>React + Recharts</a:t>
            </a:r>
            <a:endParaRPr lang="en-US" sz="1300" dirty="0"/>
          </a:p>
        </p:txBody>
      </p:sp>
      <p:sp>
        <p:nvSpPr>
          <p:cNvPr id="15" name="Chip 233"/>
          <p:cNvSpPr/>
          <p:nvPr/>
        </p:nvSpPr>
        <p:spPr>
          <a:xfrm>
            <a:off x="2468880" y="2825496"/>
            <a:ext cx="1874520" cy="438912"/>
          </a:xfrm>
          <a:prstGeom prst="roundRect">
            <a:avLst>
              <a:gd name="adj" fmla="val 50000"/>
            </a:avLst>
          </a:prstGeom>
          <a:solidFill>
            <a:schemeClr val="bg2"/>
          </a:solidFill>
          <a:ln w="12700">
            <a:solidFill>
              <a:schemeClr val="bg2"/>
            </a:solidFill>
            <a:prstDash val="solid"/>
          </a:ln>
        </p:spPr>
      </p:sp>
      <p:sp>
        <p:nvSpPr>
          <p:cNvPr id="16" name="Text 234"/>
          <p:cNvSpPr txBox="1"/>
          <p:nvPr/>
        </p:nvSpPr>
        <p:spPr>
          <a:xfrm>
            <a:off x="2468880" y="2825496"/>
            <a:ext cx="1874520" cy="438912"/>
          </a:xfrm>
          <a:prstGeom prst="rect">
            <a:avLst/>
          </a:prstGeom>
          <a:noFill/>
          <a:ln/>
        </p:spPr>
        <p:txBody>
          <a:bodyPr wrap="square" lIns="0" tIns="0" rIns="0" bIns="0" rtlCol="0" anchor="ctr"/>
          <a:lstStyle/>
          <a:p>
            <a:pPr algn="ctr" indent="0" marL="0">
              <a:buNone/>
            </a:pPr>
            <a:r>
              <a:rPr lang="en-US" sz="1300" b="1" dirty="0">
                <a:solidFill>
                  <a:schemeClr val="tx2"/>
                </a:solidFill>
              </a:rPr>
              <a:t>Synthetic data generator</a:t>
            </a:r>
            <a:endParaRPr lang="en-US" sz="1300" dirty="0"/>
          </a:p>
        </p:txBody>
      </p:sp>
      <p:sp>
        <p:nvSpPr>
          <p:cNvPr id="17" name="Card 235"/>
          <p:cNvSpPr/>
          <p:nvPr/>
        </p:nvSpPr>
        <p:spPr>
          <a:xfrm>
            <a:off x="457200" y="3520440"/>
            <a:ext cx="3886200" cy="914400"/>
          </a:xfrm>
          <a:prstGeom prst="roundRect">
            <a:avLst>
              <a:gd name="adj" fmla="val 10000"/>
            </a:avLst>
          </a:prstGeom>
          <a:solidFill>
            <a:schemeClr val="tx2"/>
          </a:solidFill>
          <a:ln w="12700">
            <a:solidFill>
              <a:schemeClr val="tx2"/>
            </a:solidFill>
            <a:prstDash val="solid"/>
          </a:ln>
        </p:spPr>
      </p:sp>
      <p:sp>
        <p:nvSpPr>
          <p:cNvPr id="18" name="Text 236"/>
          <p:cNvSpPr txBox="1"/>
          <p:nvPr/>
        </p:nvSpPr>
        <p:spPr>
          <a:xfrm>
            <a:off x="640080" y="3520440"/>
            <a:ext cx="3520440" cy="914400"/>
          </a:xfrm>
          <a:prstGeom prst="rect">
            <a:avLst/>
          </a:prstGeom>
          <a:noFill/>
          <a:ln/>
        </p:spPr>
        <p:txBody>
          <a:bodyPr wrap="square" lIns="0" tIns="0" rIns="0" bIns="0" rtlCol="0" anchor="ctr"/>
          <a:lstStyle/>
          <a:p>
            <a:pPr indent="0" marL="0">
              <a:buNone/>
            </a:pPr>
            <a:r>
              <a:rPr lang="en-US" sz="1400" dirty="0">
                <a:solidFill>
                  <a:schemeClr val="bg1"/>
                </a:solidFill>
              </a:rPr>
              <a:t>Built on synthetic patient data, so no real patient information is used</a:t>
            </a:r>
            <a:endParaRPr lang="en-US" sz="1400" dirty="0"/>
          </a:p>
        </p:txBody>
      </p:sp>
      <p:sp>
        <p:nvSpPr>
          <p:cNvPr id="19" name="Text 237"/>
          <p:cNvSpPr txBox="1"/>
          <p:nvPr/>
        </p:nvSpPr>
        <p:spPr>
          <a:xfrm>
            <a:off x="4754880" y="1188720"/>
            <a:ext cx="3931920" cy="320040"/>
          </a:xfrm>
          <a:prstGeom prst="rect">
            <a:avLst/>
          </a:prstGeom>
          <a:noFill/>
          <a:ln/>
        </p:spPr>
        <p:txBody>
          <a:bodyPr wrap="square" lIns="0" tIns="0" rIns="0" bIns="0" rtlCol="0" anchor="t"/>
          <a:lstStyle/>
          <a:p>
            <a:pPr indent="0" marL="0">
              <a:buNone/>
            </a:pPr>
            <a:r>
              <a:rPr lang="en-US" sz="1700" b="1" dirty="0">
                <a:solidFill>
                  <a:schemeClr val="tx2"/>
                </a:solidFill>
              </a:rPr>
              <a:t>Live demo flow</a:t>
            </a:r>
            <a:endParaRPr lang="en-US" sz="1700" dirty="0"/>
          </a:p>
        </p:txBody>
      </p:sp>
      <p:sp>
        <p:nvSpPr>
          <p:cNvPr id="20" name="Step number 238"/>
          <p:cNvSpPr/>
          <p:nvPr/>
        </p:nvSpPr>
        <p:spPr>
          <a:xfrm>
            <a:off x="4754880" y="1691640"/>
            <a:ext cx="457200" cy="457200"/>
          </a:xfrm>
          <a:prstGeom prst="ellipse">
            <a:avLst/>
          </a:prstGeom>
          <a:solidFill>
            <a:schemeClr val="tx2"/>
          </a:solidFill>
          <a:ln w="12700">
            <a:solidFill>
              <a:schemeClr val="tx2"/>
            </a:solidFill>
            <a:prstDash val="solid"/>
          </a:ln>
        </p:spPr>
      </p:sp>
      <p:sp>
        <p:nvSpPr>
          <p:cNvPr id="21" name="Text 239"/>
          <p:cNvSpPr txBox="1"/>
          <p:nvPr/>
        </p:nvSpPr>
        <p:spPr>
          <a:xfrm>
            <a:off x="475488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Text 240"/>
          <p:cNvSpPr txBox="1"/>
          <p:nvPr/>
        </p:nvSpPr>
        <p:spPr>
          <a:xfrm>
            <a:off x="5440680" y="1691640"/>
            <a:ext cx="3246120" cy="457200"/>
          </a:xfrm>
          <a:prstGeom prst="rect">
            <a:avLst/>
          </a:prstGeom>
          <a:noFill/>
          <a:ln/>
        </p:spPr>
        <p:txBody>
          <a:bodyPr wrap="square" lIns="0" tIns="0" rIns="0" bIns="0" rtlCol="0" anchor="ctr"/>
          <a:lstStyle/>
          <a:p>
            <a:pPr indent="0" marL="0">
              <a:buNone/>
            </a:pPr>
            <a:r>
              <a:rPr lang="en-US" sz="1400" dirty="0">
                <a:solidFill>
                  <a:schemeClr val="tx1"/>
                </a:solidFill>
              </a:rPr>
              <a:t>Replay a simulated day of arrivals</a:t>
            </a:r>
            <a:endParaRPr lang="en-US" sz="1400" dirty="0"/>
          </a:p>
        </p:txBody>
      </p:sp>
      <p:sp>
        <p:nvSpPr>
          <p:cNvPr id="23" name="Step number 241"/>
          <p:cNvSpPr/>
          <p:nvPr/>
        </p:nvSpPr>
        <p:spPr>
          <a:xfrm>
            <a:off x="4754880" y="2423160"/>
            <a:ext cx="457200" cy="457200"/>
          </a:xfrm>
          <a:prstGeom prst="ellipse">
            <a:avLst/>
          </a:prstGeom>
          <a:solidFill>
            <a:schemeClr val="tx2"/>
          </a:solidFill>
          <a:ln w="12700">
            <a:solidFill>
              <a:schemeClr val="tx2"/>
            </a:solidFill>
            <a:prstDash val="solid"/>
          </a:ln>
        </p:spPr>
      </p:sp>
      <p:sp>
        <p:nvSpPr>
          <p:cNvPr id="24" name="Text 242"/>
          <p:cNvSpPr txBox="1"/>
          <p:nvPr/>
        </p:nvSpPr>
        <p:spPr>
          <a:xfrm>
            <a:off x="4754880" y="2423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5" name="Text 243"/>
          <p:cNvSpPr txBox="1"/>
          <p:nvPr/>
        </p:nvSpPr>
        <p:spPr>
          <a:xfrm>
            <a:off x="5440680" y="2423160"/>
            <a:ext cx="3246120" cy="457200"/>
          </a:xfrm>
          <a:prstGeom prst="rect">
            <a:avLst/>
          </a:prstGeom>
          <a:noFill/>
          <a:ln/>
        </p:spPr>
        <p:txBody>
          <a:bodyPr wrap="square" lIns="0" tIns="0" rIns="0" bIns="0" rtlCol="0" anchor="ctr"/>
          <a:lstStyle/>
          <a:p>
            <a:pPr indent="0" marL="0">
              <a:buNone/>
            </a:pPr>
            <a:r>
              <a:rPr lang="en-US" sz="1400" dirty="0">
                <a:solidFill>
                  <a:schemeClr val="tx1"/>
                </a:solidFill>
              </a:rPr>
              <a:t>Watch the forecast flag an evening surge</a:t>
            </a:r>
            <a:endParaRPr lang="en-US" sz="1400" dirty="0"/>
          </a:p>
        </p:txBody>
      </p:sp>
      <p:sp>
        <p:nvSpPr>
          <p:cNvPr id="26" name="Step number 244"/>
          <p:cNvSpPr/>
          <p:nvPr/>
        </p:nvSpPr>
        <p:spPr>
          <a:xfrm>
            <a:off x="4754880" y="3154680"/>
            <a:ext cx="457200" cy="457200"/>
          </a:xfrm>
          <a:prstGeom prst="ellipse">
            <a:avLst/>
          </a:prstGeom>
          <a:solidFill>
            <a:schemeClr val="tx2"/>
          </a:solidFill>
          <a:ln w="12700">
            <a:solidFill>
              <a:schemeClr val="tx2"/>
            </a:solidFill>
            <a:prstDash val="solid"/>
          </a:ln>
        </p:spPr>
      </p:sp>
      <p:sp>
        <p:nvSpPr>
          <p:cNvPr id="27" name="Text 245"/>
          <p:cNvSpPr txBox="1"/>
          <p:nvPr/>
        </p:nvSpPr>
        <p:spPr>
          <a:xfrm>
            <a:off x="4754880" y="3154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Text 246"/>
          <p:cNvSpPr txBox="1"/>
          <p:nvPr/>
        </p:nvSpPr>
        <p:spPr>
          <a:xfrm>
            <a:off x="5440680" y="3154680"/>
            <a:ext cx="3246120" cy="457200"/>
          </a:xfrm>
          <a:prstGeom prst="rect">
            <a:avLst/>
          </a:prstGeom>
          <a:noFill/>
          <a:ln/>
        </p:spPr>
        <p:txBody>
          <a:bodyPr wrap="square" lIns="0" tIns="0" rIns="0" bIns="0" rtlCol="0" anchor="ctr"/>
          <a:lstStyle/>
          <a:p>
            <a:pPr indent="0" marL="0">
              <a:buNone/>
            </a:pPr>
            <a:r>
              <a:rPr lang="en-US" sz="1400" dirty="0">
                <a:solidFill>
                  <a:schemeClr val="tx1"/>
                </a:solidFill>
              </a:rPr>
              <a:t>See ranked bed and staffing actions</a:t>
            </a:r>
            <a:endParaRPr lang="en-US" sz="1400" dirty="0"/>
          </a:p>
        </p:txBody>
      </p:sp>
      <p:sp>
        <p:nvSpPr>
          <p:cNvPr id="29" name="Step number 247"/>
          <p:cNvSpPr/>
          <p:nvPr/>
        </p:nvSpPr>
        <p:spPr>
          <a:xfrm>
            <a:off x="4754880" y="3886200"/>
            <a:ext cx="457200" cy="457200"/>
          </a:xfrm>
          <a:prstGeom prst="ellipse">
            <a:avLst/>
          </a:prstGeom>
          <a:solidFill>
            <a:schemeClr val="tx2"/>
          </a:solidFill>
          <a:ln w="12700">
            <a:solidFill>
              <a:schemeClr val="tx2"/>
            </a:solidFill>
            <a:prstDash val="solid"/>
          </a:ln>
        </p:spPr>
      </p:sp>
      <p:sp>
        <p:nvSpPr>
          <p:cNvPr id="30" name="Text 248"/>
          <p:cNvSpPr txBox="1"/>
          <p:nvPr/>
        </p:nvSpPr>
        <p:spPr>
          <a:xfrm>
            <a:off x="475488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1" name="Text 249"/>
          <p:cNvSpPr txBox="1"/>
          <p:nvPr/>
        </p:nvSpPr>
        <p:spPr>
          <a:xfrm>
            <a:off x="5440680" y="3886200"/>
            <a:ext cx="3246120" cy="457200"/>
          </a:xfrm>
          <a:prstGeom prst="rect">
            <a:avLst/>
          </a:prstGeom>
          <a:noFill/>
          <a:ln/>
        </p:spPr>
        <p:txBody>
          <a:bodyPr wrap="square" lIns="0" tIns="0" rIns="0" bIns="0" rtlCol="0" anchor="ctr"/>
          <a:lstStyle/>
          <a:p>
            <a:pPr indent="0" marL="0">
              <a:buNone/>
            </a:pPr>
            <a:r>
              <a:rPr lang="en-US" sz="1400" dirty="0">
                <a:solidFill>
                  <a:schemeClr val="tx1"/>
                </a:solidFill>
              </a:rPr>
              <a:t>Approve one and watch waits drop</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nchor="ctr"/>
          <a:lstStyle/>
          <a:p>
            <a:pPr algn="l" indent="0" marL="0">
              <a:buNone/>
            </a:pPr>
            <a:r>
              <a:rPr lang="en-US" sz="3200" b="1" dirty="0">
                <a:solidFill>
                  <a:schemeClr val="tx2"/>
                </a:solidFill>
              </a:rPr>
              <a:t>Impact we will measure</a:t>
            </a:r>
            <a:endParaRPr lang="en-US" sz="3200" dirty="0"/>
          </a:p>
        </p:txBody>
      </p:sp>
      <p:sp>
        <p:nvSpPr>
          <p:cNvPr id="4" name="Card 250"/>
          <p:cNvSpPr/>
          <p:nvPr/>
        </p:nvSpPr>
        <p:spPr>
          <a:xfrm>
            <a:off x="457200" y="1234440"/>
            <a:ext cx="1920240" cy="1737360"/>
          </a:xfrm>
          <a:prstGeom prst="roundRect">
            <a:avLst>
              <a:gd name="adj" fmla="val 5263"/>
            </a:avLst>
          </a:prstGeom>
          <a:solidFill>
            <a:schemeClr val="bg2"/>
          </a:solidFill>
          <a:ln w="12700">
            <a:solidFill>
              <a:schemeClr val="bg2"/>
            </a:solidFill>
            <a:prstDash val="solid"/>
          </a:ln>
        </p:spPr>
      </p:sp>
      <p:sp>
        <p:nvSpPr>
          <p:cNvPr id="5" name="Icon circle 251"/>
          <p:cNvSpPr/>
          <p:nvPr/>
        </p:nvSpPr>
        <p:spPr>
          <a:xfrm>
            <a:off x="640080" y="1389888"/>
            <a:ext cx="365760" cy="365760"/>
          </a:xfrm>
          <a:prstGeom prst="ellipse">
            <a:avLst/>
          </a:prstGeom>
          <a:solidFill>
            <a:schemeClr val="accent2"/>
          </a:solidFill>
          <a:ln w="12700">
            <a:solidFill>
              <a:schemeClr val="accent2"/>
            </a:solidFill>
            <a:prstDash val="solid"/>
          </a:ln>
        </p:spPr>
      </p:sp>
      <p:pic>
        <p:nvPicPr>
          <p:cNvPr id="6" name="Icon 252" descr="icon">    </p:cNvPr>
          <p:cNvPicPr>
            <a:picLocks noChangeAspect="1"/>
          </p:cNvPicPr>
          <p:nvPr/>
        </p:nvPicPr>
        <p:blipFill>
          <a:blip r:embed="rId1"/>
          <a:stretch>
            <a:fillRect/>
          </a:stretch>
        </p:blipFill>
        <p:spPr>
          <a:xfrm>
            <a:off x="738835" y="1488643"/>
            <a:ext cx="168250" cy="168250"/>
          </a:xfrm>
          <a:prstGeom prst="rect">
            <a:avLst/>
          </a:prstGeom>
        </p:spPr>
      </p:pic>
      <p:sp>
        <p:nvSpPr>
          <p:cNvPr id="7" name="Text 253"/>
          <p:cNvSpPr txBox="1"/>
          <p:nvPr/>
        </p:nvSpPr>
        <p:spPr>
          <a:xfrm>
            <a:off x="640080" y="1874520"/>
            <a:ext cx="16002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Shorter</a:t>
            </a:r>
            <a:endParaRPr lang="en-US" sz="2800" dirty="0"/>
          </a:p>
        </p:txBody>
      </p:sp>
      <p:sp>
        <p:nvSpPr>
          <p:cNvPr id="8" name="Text 254"/>
          <p:cNvSpPr txBox="1"/>
          <p:nvPr/>
        </p:nvSpPr>
        <p:spPr>
          <a:xfrm>
            <a:off x="640080" y="2377440"/>
            <a:ext cx="1600200" cy="502920"/>
          </a:xfrm>
          <a:prstGeom prst="rect">
            <a:avLst/>
          </a:prstGeom>
          <a:noFill/>
          <a:ln/>
        </p:spPr>
        <p:txBody>
          <a:bodyPr wrap="square" lIns="0" tIns="0" rIns="0" bIns="0" rtlCol="0" anchor="t"/>
          <a:lstStyle/>
          <a:p>
            <a:pPr indent="0" marL="0">
              <a:buNone/>
            </a:pPr>
            <a:r>
              <a:rPr lang="en-US" sz="1400" dirty="0">
                <a:solidFill>
                  <a:schemeClr val="tx1"/>
                </a:solidFill>
              </a:rPr>
              <a:t>ED waiting time</a:t>
            </a:r>
            <a:endParaRPr lang="en-US" sz="1400" dirty="0"/>
          </a:p>
        </p:txBody>
      </p:sp>
      <p:sp>
        <p:nvSpPr>
          <p:cNvPr id="9" name="Card 255"/>
          <p:cNvSpPr/>
          <p:nvPr/>
        </p:nvSpPr>
        <p:spPr>
          <a:xfrm>
            <a:off x="2560320" y="1234440"/>
            <a:ext cx="1920240" cy="1737360"/>
          </a:xfrm>
          <a:prstGeom prst="roundRect">
            <a:avLst>
              <a:gd name="adj" fmla="val 5263"/>
            </a:avLst>
          </a:prstGeom>
          <a:solidFill>
            <a:schemeClr val="bg2"/>
          </a:solidFill>
          <a:ln w="12700">
            <a:solidFill>
              <a:schemeClr val="bg2"/>
            </a:solidFill>
            <a:prstDash val="solid"/>
          </a:ln>
        </p:spPr>
      </p:sp>
      <p:sp>
        <p:nvSpPr>
          <p:cNvPr id="10" name="Icon circle 256"/>
          <p:cNvSpPr/>
          <p:nvPr/>
        </p:nvSpPr>
        <p:spPr>
          <a:xfrm>
            <a:off x="2743200" y="1389888"/>
            <a:ext cx="365760" cy="365760"/>
          </a:xfrm>
          <a:prstGeom prst="ellipse">
            <a:avLst/>
          </a:prstGeom>
          <a:solidFill>
            <a:schemeClr val="accent1"/>
          </a:solidFill>
          <a:ln w="12700">
            <a:solidFill>
              <a:schemeClr val="accent1"/>
            </a:solidFill>
            <a:prstDash val="solid"/>
          </a:ln>
        </p:spPr>
      </p:sp>
      <p:pic>
        <p:nvPicPr>
          <p:cNvPr id="11" name="Icon 257" descr="icon">    </p:cNvPr>
          <p:cNvPicPr>
            <a:picLocks noChangeAspect="1"/>
          </p:cNvPicPr>
          <p:nvPr/>
        </p:nvPicPr>
        <p:blipFill>
          <a:blip r:embed="rId2"/>
          <a:stretch>
            <a:fillRect/>
          </a:stretch>
        </p:blipFill>
        <p:spPr>
          <a:xfrm>
            <a:off x="2841955" y="1488643"/>
            <a:ext cx="168250" cy="168250"/>
          </a:xfrm>
          <a:prstGeom prst="rect">
            <a:avLst/>
          </a:prstGeom>
        </p:spPr>
      </p:pic>
      <p:sp>
        <p:nvSpPr>
          <p:cNvPr id="12" name="Text 258"/>
          <p:cNvSpPr txBox="1"/>
          <p:nvPr/>
        </p:nvSpPr>
        <p:spPr>
          <a:xfrm>
            <a:off x="2743200" y="1874520"/>
            <a:ext cx="16002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Faster</a:t>
            </a:r>
            <a:endParaRPr lang="en-US" sz="2800" dirty="0"/>
          </a:p>
        </p:txBody>
      </p:sp>
      <p:sp>
        <p:nvSpPr>
          <p:cNvPr id="13" name="Text 259"/>
          <p:cNvSpPr txBox="1"/>
          <p:nvPr/>
        </p:nvSpPr>
        <p:spPr>
          <a:xfrm>
            <a:off x="2743200" y="2377440"/>
            <a:ext cx="1600200" cy="502920"/>
          </a:xfrm>
          <a:prstGeom prst="rect">
            <a:avLst/>
          </a:prstGeom>
          <a:noFill/>
          <a:ln/>
        </p:spPr>
        <p:txBody>
          <a:bodyPr wrap="square" lIns="0" tIns="0" rIns="0" bIns="0" rtlCol="0" anchor="t"/>
          <a:lstStyle/>
          <a:p>
            <a:pPr indent="0" marL="0">
              <a:buNone/>
            </a:pPr>
            <a:r>
              <a:rPr lang="en-US" sz="1400" dirty="0">
                <a:solidFill>
                  <a:schemeClr val="tx1"/>
                </a:solidFill>
              </a:rPr>
              <a:t>Discharge to bed turnover</a:t>
            </a:r>
            <a:endParaRPr lang="en-US" sz="1400" dirty="0"/>
          </a:p>
        </p:txBody>
      </p:sp>
      <p:sp>
        <p:nvSpPr>
          <p:cNvPr id="14" name="Card 260"/>
          <p:cNvSpPr/>
          <p:nvPr/>
        </p:nvSpPr>
        <p:spPr>
          <a:xfrm>
            <a:off x="4663440" y="1234440"/>
            <a:ext cx="1920240" cy="1737360"/>
          </a:xfrm>
          <a:prstGeom prst="roundRect">
            <a:avLst>
              <a:gd name="adj" fmla="val 5263"/>
            </a:avLst>
          </a:prstGeom>
          <a:solidFill>
            <a:schemeClr val="bg2"/>
          </a:solidFill>
          <a:ln w="12700">
            <a:solidFill>
              <a:schemeClr val="bg2"/>
            </a:solidFill>
            <a:prstDash val="solid"/>
          </a:ln>
        </p:spPr>
      </p:sp>
      <p:sp>
        <p:nvSpPr>
          <p:cNvPr id="15" name="Icon circle 261"/>
          <p:cNvSpPr/>
          <p:nvPr/>
        </p:nvSpPr>
        <p:spPr>
          <a:xfrm>
            <a:off x="4846320" y="1389888"/>
            <a:ext cx="365760" cy="365760"/>
          </a:xfrm>
          <a:prstGeom prst="ellipse">
            <a:avLst/>
          </a:prstGeom>
          <a:solidFill>
            <a:schemeClr val="accent4"/>
          </a:solidFill>
          <a:ln w="12700">
            <a:solidFill>
              <a:schemeClr val="accent4"/>
            </a:solidFill>
            <a:prstDash val="solid"/>
          </a:ln>
        </p:spPr>
      </p:sp>
      <p:pic>
        <p:nvPicPr>
          <p:cNvPr id="16" name="Icon 262" descr="icon">    </p:cNvPr>
          <p:cNvPicPr>
            <a:picLocks noChangeAspect="1"/>
          </p:cNvPicPr>
          <p:nvPr/>
        </p:nvPicPr>
        <p:blipFill>
          <a:blip r:embed="rId3"/>
          <a:stretch>
            <a:fillRect/>
          </a:stretch>
        </p:blipFill>
        <p:spPr>
          <a:xfrm>
            <a:off x="4945075" y="1488643"/>
            <a:ext cx="168250" cy="168250"/>
          </a:xfrm>
          <a:prstGeom prst="rect">
            <a:avLst/>
          </a:prstGeom>
        </p:spPr>
      </p:pic>
      <p:sp>
        <p:nvSpPr>
          <p:cNvPr id="17" name="Text 263"/>
          <p:cNvSpPr txBox="1"/>
          <p:nvPr/>
        </p:nvSpPr>
        <p:spPr>
          <a:xfrm>
            <a:off x="4846320" y="1874520"/>
            <a:ext cx="16002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Higher</a:t>
            </a:r>
            <a:endParaRPr lang="en-US" sz="2800" dirty="0"/>
          </a:p>
        </p:txBody>
      </p:sp>
      <p:sp>
        <p:nvSpPr>
          <p:cNvPr id="18" name="Text 264"/>
          <p:cNvSpPr txBox="1"/>
          <p:nvPr/>
        </p:nvSpPr>
        <p:spPr>
          <a:xfrm>
            <a:off x="4846320" y="2377440"/>
            <a:ext cx="1600200" cy="502920"/>
          </a:xfrm>
          <a:prstGeom prst="rect">
            <a:avLst/>
          </a:prstGeom>
          <a:noFill/>
          <a:ln/>
        </p:spPr>
        <p:txBody>
          <a:bodyPr wrap="square" lIns="0" tIns="0" rIns="0" bIns="0" rtlCol="0" anchor="t"/>
          <a:lstStyle/>
          <a:p>
            <a:pPr indent="0" marL="0">
              <a:buNone/>
            </a:pPr>
            <a:r>
              <a:rPr lang="en-US" sz="1400" dirty="0">
                <a:solidFill>
                  <a:schemeClr val="tx1"/>
                </a:solidFill>
              </a:rPr>
              <a:t>Bed utilization balance</a:t>
            </a:r>
            <a:endParaRPr lang="en-US" sz="1400" dirty="0"/>
          </a:p>
        </p:txBody>
      </p:sp>
      <p:sp>
        <p:nvSpPr>
          <p:cNvPr id="19" name="Card 265"/>
          <p:cNvSpPr/>
          <p:nvPr/>
        </p:nvSpPr>
        <p:spPr>
          <a:xfrm>
            <a:off x="6766560" y="1234440"/>
            <a:ext cx="1920240" cy="1737360"/>
          </a:xfrm>
          <a:prstGeom prst="roundRect">
            <a:avLst>
              <a:gd name="adj" fmla="val 5263"/>
            </a:avLst>
          </a:prstGeom>
          <a:solidFill>
            <a:schemeClr val="bg2"/>
          </a:solidFill>
          <a:ln w="12700">
            <a:solidFill>
              <a:schemeClr val="bg2"/>
            </a:solidFill>
            <a:prstDash val="solid"/>
          </a:ln>
        </p:spPr>
      </p:sp>
      <p:sp>
        <p:nvSpPr>
          <p:cNvPr id="20" name="Icon circle 266"/>
          <p:cNvSpPr/>
          <p:nvPr/>
        </p:nvSpPr>
        <p:spPr>
          <a:xfrm>
            <a:off x="6949440" y="1389888"/>
            <a:ext cx="365760" cy="365760"/>
          </a:xfrm>
          <a:prstGeom prst="ellipse">
            <a:avLst/>
          </a:prstGeom>
          <a:solidFill>
            <a:schemeClr val="accent3"/>
          </a:solidFill>
          <a:ln w="12700">
            <a:solidFill>
              <a:schemeClr val="accent3"/>
            </a:solidFill>
            <a:prstDash val="solid"/>
          </a:ln>
        </p:spPr>
      </p:sp>
      <p:pic>
        <p:nvPicPr>
          <p:cNvPr id="21" name="Icon 267" descr="icon">    </p:cNvPr>
          <p:cNvPicPr>
            <a:picLocks noChangeAspect="1"/>
          </p:cNvPicPr>
          <p:nvPr/>
        </p:nvPicPr>
        <p:blipFill>
          <a:blip r:embed="rId4"/>
          <a:stretch>
            <a:fillRect/>
          </a:stretch>
        </p:blipFill>
        <p:spPr>
          <a:xfrm>
            <a:off x="7048195" y="1488643"/>
            <a:ext cx="168250" cy="168250"/>
          </a:xfrm>
          <a:prstGeom prst="rect">
            <a:avLst/>
          </a:prstGeom>
        </p:spPr>
      </p:pic>
      <p:sp>
        <p:nvSpPr>
          <p:cNvPr id="22" name="Text 268"/>
          <p:cNvSpPr txBox="1"/>
          <p:nvPr/>
        </p:nvSpPr>
        <p:spPr>
          <a:xfrm>
            <a:off x="6949440" y="1874520"/>
            <a:ext cx="16002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Fewer</a:t>
            </a:r>
            <a:endParaRPr lang="en-US" sz="2800" dirty="0"/>
          </a:p>
        </p:txBody>
      </p:sp>
      <p:sp>
        <p:nvSpPr>
          <p:cNvPr id="23" name="Text 269"/>
          <p:cNvSpPr txBox="1"/>
          <p:nvPr/>
        </p:nvSpPr>
        <p:spPr>
          <a:xfrm>
            <a:off x="6949440" y="2377440"/>
            <a:ext cx="1600200" cy="502920"/>
          </a:xfrm>
          <a:prstGeom prst="rect">
            <a:avLst/>
          </a:prstGeom>
          <a:noFill/>
          <a:ln/>
        </p:spPr>
        <p:txBody>
          <a:bodyPr wrap="square" lIns="0" tIns="0" rIns="0" bIns="0" rtlCol="0" anchor="t"/>
          <a:lstStyle/>
          <a:p>
            <a:pPr indent="0" marL="0">
              <a:buNone/>
            </a:pPr>
            <a:r>
              <a:rPr lang="en-US" sz="1400" dirty="0">
                <a:solidFill>
                  <a:schemeClr val="tx1"/>
                </a:solidFill>
              </a:rPr>
              <a:t>ED boarding hours</a:t>
            </a:r>
            <a:endParaRPr lang="en-US" sz="1400" dirty="0"/>
          </a:p>
        </p:txBody>
      </p:sp>
      <p:sp>
        <p:nvSpPr>
          <p:cNvPr id="24" name="Card 270"/>
          <p:cNvSpPr/>
          <p:nvPr/>
        </p:nvSpPr>
        <p:spPr>
          <a:xfrm>
            <a:off x="457200" y="3200400"/>
            <a:ext cx="8229600" cy="1325880"/>
          </a:xfrm>
          <a:prstGeom prst="roundRect">
            <a:avLst>
              <a:gd name="adj" fmla="val 6897"/>
            </a:avLst>
          </a:prstGeom>
          <a:solidFill>
            <a:schemeClr val="tx2"/>
          </a:solidFill>
          <a:ln w="12700">
            <a:solidFill>
              <a:schemeClr val="tx2"/>
            </a:solidFill>
            <a:prstDash val="solid"/>
          </a:ln>
        </p:spPr>
      </p:sp>
      <p:sp>
        <p:nvSpPr>
          <p:cNvPr id="25" name="Text 271"/>
          <p:cNvSpPr txBox="1"/>
          <p:nvPr/>
        </p:nvSpPr>
        <p:spPr>
          <a:xfrm>
            <a:off x="731520" y="3337560"/>
            <a:ext cx="7680960" cy="320040"/>
          </a:xfrm>
          <a:prstGeom prst="rect">
            <a:avLst/>
          </a:prstGeom>
          <a:noFill/>
          <a:ln/>
        </p:spPr>
        <p:txBody>
          <a:bodyPr wrap="square" lIns="0" tIns="0" rIns="0" bIns="0" rtlCol="0" anchor="t"/>
          <a:lstStyle/>
          <a:p>
            <a:pPr indent="0" marL="0">
              <a:buNone/>
            </a:pPr>
            <a:r>
              <a:rPr lang="en-US" sz="1700" b="1" dirty="0">
                <a:solidFill>
                  <a:schemeClr val="accent3"/>
                </a:solidFill>
              </a:rPr>
              <a:t>How we measure it</a:t>
            </a:r>
            <a:endParaRPr lang="en-US" sz="1700" dirty="0"/>
          </a:p>
        </p:txBody>
      </p:sp>
      <p:sp>
        <p:nvSpPr>
          <p:cNvPr id="26" name="Text 272"/>
          <p:cNvSpPr txBox="1"/>
          <p:nvPr/>
        </p:nvSpPr>
        <p:spPr>
          <a:xfrm>
            <a:off x="731520" y="3703320"/>
            <a:ext cx="7680960" cy="731520"/>
          </a:xfrm>
          <a:prstGeom prst="rect">
            <a:avLst/>
          </a:prstGeom>
          <a:noFill/>
          <a:ln/>
        </p:spPr>
        <p:txBody>
          <a:bodyPr wrap="square" lIns="0" tIns="0" rIns="0" bIns="0" rtlCol="0" anchor="t"/>
          <a:lstStyle/>
          <a:p>
            <a:pPr indent="0" marL="0">
              <a:buNone/>
            </a:pPr>
            <a:r>
              <a:rPr lang="en-US" sz="1400" dirty="0">
                <a:solidFill>
                  <a:schemeClr val="bg1"/>
                </a:solidFill>
              </a:rPr>
              <a:t>Simulate 7 days, about 1,900 ED arrivals, 450 beds. Baseline: first-come allocation. Compare median ED wait, boarding hours and occupancy balance across wards.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1371600"/>
          </a:xfrm>
          <a:prstGeom prst="rect">
            <a:avLst/>
          </a:prstGeom>
          <a:noFill/>
          <a:ln/>
        </p:spPr>
        <p:txBody>
          <a:bodyPr wrap="square" rtlCol="0" anchor="t"/>
          <a:lstStyle/>
          <a:p>
            <a:pPr algn="l" indent="0" marL="0">
              <a:buNone/>
            </a:pPr>
            <a:r>
              <a:rPr lang="en-US" sz="4000" b="1" dirty="0">
                <a:solidFill>
                  <a:schemeClr val="bg1"/>
                </a:solidFill>
              </a:rPr>
              <a:t>Make existing capacity work smarter</a:t>
            </a:r>
            <a:endParaRPr lang="en-US" sz="4000" dirty="0"/>
          </a:p>
        </p:txBody>
      </p:sp>
      <p:sp>
        <p:nvSpPr>
          <p:cNvPr id="4" name="Roadmap card 273"/>
          <p:cNvSpPr/>
          <p:nvPr/>
        </p:nvSpPr>
        <p:spPr>
          <a:xfrm>
            <a:off x="548640" y="2148840"/>
            <a:ext cx="2514600" cy="1417320"/>
          </a:xfrm>
          <a:prstGeom prst="roundRect">
            <a:avLst>
              <a:gd name="adj" fmla="val 6452"/>
            </a:avLst>
          </a:prstGeom>
          <a:solidFill>
            <a:schemeClr val="bg1">
              <a:alpha val="10000"/>
            </a:schemeClr>
          </a:solidFill>
          <a:ln w="12700">
            <a:solidFill>
              <a:schemeClr val="bg1">
                <a:alpha val="10000"/>
              </a:schemeClr>
            </a:solidFill>
            <a:prstDash val="solid"/>
          </a:ln>
        </p:spPr>
      </p:sp>
      <p:sp>
        <p:nvSpPr>
          <p:cNvPr id="5" name="Text 274"/>
          <p:cNvSpPr txBox="1"/>
          <p:nvPr/>
        </p:nvSpPr>
        <p:spPr>
          <a:xfrm>
            <a:off x="777240" y="2331720"/>
            <a:ext cx="2103120" cy="36576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Now</a:t>
            </a:r>
            <a:endParaRPr lang="en-US" sz="2200" dirty="0"/>
          </a:p>
        </p:txBody>
      </p:sp>
      <p:sp>
        <p:nvSpPr>
          <p:cNvPr id="6" name="Text 275"/>
          <p:cNvSpPr txBox="1"/>
          <p:nvPr/>
        </p:nvSpPr>
        <p:spPr>
          <a:xfrm>
            <a:off x="777240" y="2788920"/>
            <a:ext cx="2103120" cy="731520"/>
          </a:xfrm>
          <a:prstGeom prst="rect">
            <a:avLst/>
          </a:prstGeom>
          <a:noFill/>
          <a:ln/>
        </p:spPr>
        <p:txBody>
          <a:bodyPr wrap="square" lIns="0" tIns="0" rIns="0" bIns="0" rtlCol="0" anchor="t"/>
          <a:lstStyle/>
          <a:p>
            <a:pPr indent="0" marL="0">
              <a:buNone/>
            </a:pPr>
            <a:r>
              <a:rPr lang="en-US" sz="1400" dirty="0">
                <a:solidFill>
                  <a:schemeClr val="bg1"/>
                </a:solidFill>
              </a:rPr>
              <a:t>Working prototype on simulated data</a:t>
            </a:r>
            <a:endParaRPr lang="en-US" sz="1400" dirty="0"/>
          </a:p>
        </p:txBody>
      </p:sp>
      <p:sp>
        <p:nvSpPr>
          <p:cNvPr id="7" name="Roadmap card 276"/>
          <p:cNvSpPr/>
          <p:nvPr/>
        </p:nvSpPr>
        <p:spPr>
          <a:xfrm>
            <a:off x="3291840" y="2148840"/>
            <a:ext cx="2514600" cy="1417320"/>
          </a:xfrm>
          <a:prstGeom prst="roundRect">
            <a:avLst>
              <a:gd name="adj" fmla="val 6452"/>
            </a:avLst>
          </a:prstGeom>
          <a:solidFill>
            <a:schemeClr val="bg1">
              <a:alpha val="10000"/>
            </a:schemeClr>
          </a:solidFill>
          <a:ln w="12700">
            <a:solidFill>
              <a:schemeClr val="bg1">
                <a:alpha val="10000"/>
              </a:schemeClr>
            </a:solidFill>
            <a:prstDash val="solid"/>
          </a:ln>
        </p:spPr>
      </p:sp>
      <p:sp>
        <p:nvSpPr>
          <p:cNvPr id="8" name="Text 277"/>
          <p:cNvSpPr txBox="1"/>
          <p:nvPr/>
        </p:nvSpPr>
        <p:spPr>
          <a:xfrm>
            <a:off x="3520440" y="2331720"/>
            <a:ext cx="2103120" cy="36576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Next</a:t>
            </a:r>
            <a:endParaRPr lang="en-US" sz="2200" dirty="0"/>
          </a:p>
        </p:txBody>
      </p:sp>
      <p:sp>
        <p:nvSpPr>
          <p:cNvPr id="9" name="Text 278"/>
          <p:cNvSpPr txBox="1"/>
          <p:nvPr/>
        </p:nvSpPr>
        <p:spPr>
          <a:xfrm>
            <a:off x="3520440" y="2788920"/>
            <a:ext cx="2103120" cy="731520"/>
          </a:xfrm>
          <a:prstGeom prst="rect">
            <a:avLst/>
          </a:prstGeom>
          <a:noFill/>
          <a:ln/>
        </p:spPr>
        <p:txBody>
          <a:bodyPr wrap="square" lIns="0" tIns="0" rIns="0" bIns="0" rtlCol="0" anchor="t"/>
          <a:lstStyle/>
          <a:p>
            <a:pPr indent="0" marL="0">
              <a:buNone/>
            </a:pPr>
            <a:r>
              <a:rPr lang="en-US" sz="1400" dirty="0">
                <a:solidFill>
                  <a:schemeClr val="bg1"/>
                </a:solidFill>
              </a:rPr>
              <a:t>Pilot in one hospital with live feeds</a:t>
            </a:r>
            <a:endParaRPr lang="en-US" sz="1400" dirty="0"/>
          </a:p>
        </p:txBody>
      </p:sp>
      <p:sp>
        <p:nvSpPr>
          <p:cNvPr id="10" name="Roadmap card 279"/>
          <p:cNvSpPr/>
          <p:nvPr/>
        </p:nvSpPr>
        <p:spPr>
          <a:xfrm>
            <a:off x="6035040" y="2148840"/>
            <a:ext cx="2514600" cy="1417320"/>
          </a:xfrm>
          <a:prstGeom prst="roundRect">
            <a:avLst>
              <a:gd name="adj" fmla="val 6452"/>
            </a:avLst>
          </a:prstGeom>
          <a:solidFill>
            <a:schemeClr val="bg1">
              <a:alpha val="10000"/>
            </a:schemeClr>
          </a:solidFill>
          <a:ln w="12700">
            <a:solidFill>
              <a:schemeClr val="bg1">
                <a:alpha val="10000"/>
              </a:schemeClr>
            </a:solidFill>
            <a:prstDash val="solid"/>
          </a:ln>
        </p:spPr>
      </p:sp>
      <p:sp>
        <p:nvSpPr>
          <p:cNvPr id="11" name="Text 280"/>
          <p:cNvSpPr txBox="1"/>
          <p:nvPr/>
        </p:nvSpPr>
        <p:spPr>
          <a:xfrm>
            <a:off x="6263640" y="2331720"/>
            <a:ext cx="2103120" cy="36576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Later</a:t>
            </a:r>
            <a:endParaRPr lang="en-US" sz="2200" dirty="0"/>
          </a:p>
        </p:txBody>
      </p:sp>
      <p:sp>
        <p:nvSpPr>
          <p:cNvPr id="12" name="Text 281"/>
          <p:cNvSpPr txBox="1"/>
          <p:nvPr/>
        </p:nvSpPr>
        <p:spPr>
          <a:xfrm>
            <a:off x="6263640" y="2788920"/>
            <a:ext cx="2103120" cy="731520"/>
          </a:xfrm>
          <a:prstGeom prst="rect">
            <a:avLst/>
          </a:prstGeom>
          <a:noFill/>
          <a:ln/>
        </p:spPr>
        <p:txBody>
          <a:bodyPr wrap="square" lIns="0" tIns="0" rIns="0" bIns="0" rtlCol="0" anchor="t"/>
          <a:lstStyle/>
          <a:p>
            <a:pPr indent="0" marL="0">
              <a:buNone/>
            </a:pPr>
            <a:r>
              <a:rPr lang="en-US" sz="1400" dirty="0">
                <a:solidFill>
                  <a:schemeClr val="bg1"/>
                </a:solidFill>
              </a:rPr>
              <a:t>Capacity sharing across multiple sites</a:t>
            </a:r>
            <a:endParaRPr lang="en-US" sz="1400" dirty="0"/>
          </a:p>
        </p:txBody>
      </p:sp>
      <p:sp>
        <p:nvSpPr>
          <p:cNvPr id="13" name="Text 282"/>
          <p:cNvSpPr txBox="1"/>
          <p:nvPr/>
        </p:nvSpPr>
        <p:spPr>
          <a:xfrm>
            <a:off x="548640" y="4023360"/>
            <a:ext cx="548640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MediFlow">
  <a:themeElements>
    <a:clrScheme name="MediFlow">
      <a:dk1>
        <a:srgbClr val="10252B"/>
      </a:dk1>
      <a:lt1>
        <a:srgbClr val="FFFFFF"/>
      </a:lt1>
      <a:dk2>
        <a:srgbClr val="0B3C49"/>
      </a:dk2>
      <a:lt2>
        <a:srgbClr val="EAF4F4"/>
      </a:lt2>
      <a:accent1>
        <a:srgbClr val="1FA89A"/>
      </a:accent1>
      <a:accent2>
        <a:srgbClr val="FF6B5B"/>
      </a:accent2>
      <a:accent3>
        <a:srgbClr val="F2B134"/>
      </a:accent3>
      <a:accent4>
        <a:srgbClr val="3A7CA5"/>
      </a:accent4>
      <a:accent5>
        <a:srgbClr val="7A8B99"/>
      </a:accent5>
      <a:accent6>
        <a:srgbClr val="6BCB77"/>
      </a:accent6>
      <a:hlink>
        <a:srgbClr val="1FA89A"/>
      </a:hlink>
      <a:folHlink>
        <a:srgbClr val="7A8B99"/>
      </a:folHlink>
    </a:clrScheme>
    <a:fontScheme name="Medi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MediFlow: Predictive Hospital Operations</dc:title>
  <dc:subject>PptxGenJS Presentation</dc:subject>
  <dc:creator>PptxGenJS</dc:creator>
  <cp:lastModifiedBy>PptxGenJS</cp:lastModifiedBy>
  <cp:revision>1</cp:revision>
  <dcterms:created xsi:type="dcterms:W3CDTF">2026-10-13T07:58:00Z</dcterms:created>
  <dcterms:modified xsi:type="dcterms:W3CDTF">2026-10-13T07:58:00Z</dcterms:modified>
</cp:coreProperties>
</file>